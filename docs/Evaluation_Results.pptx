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1C"/>
        </a:solidFill>
        <a:effectLst/>
      </p:bgPr>
    </p:bg>
    <p:spTree>
      <p:nvGrpSpPr>
        <p:cNvPr id="1" name=""/>
        <p:cNvGrpSpPr/>
        <p:nvPr/>
      </p:nvGrpSpPr>
      <p:grpSpPr/>
      <p:sp>
        <p:nvSpPr>
          <p:cNvPr id="2" name="Rectangle 1"/>
          <p:cNvSpPr/>
          <p:nvPr/>
        </p:nvSpPr>
        <p:spPr>
          <a:xfrm>
            <a:off x="0" y="1874519"/>
            <a:ext cx="12191695" cy="2286000"/>
          </a:xfrm>
          <a:prstGeom prst="rect">
            <a:avLst/>
          </a:prstGeom>
          <a:solidFill>
            <a:srgbClr val="223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121408"/>
            <a:ext cx="10881360" cy="274320"/>
          </a:xfrm>
          <a:prstGeom prst="rect">
            <a:avLst/>
          </a:prstGeom>
          <a:noFill/>
        </p:spPr>
        <p:txBody>
          <a:bodyPr wrap="square" lIns="0" rIns="0" tIns="0" bIns="0">
            <a:spAutoFit/>
          </a:bodyPr>
          <a:lstStyle/>
          <a:p>
            <a:pPr algn="l">
              <a:lnSpc>
                <a:spcPct val="100000"/>
              </a:lnSpc>
            </a:pPr>
            <a:r>
              <a:rPr sz="1250" b="1">
                <a:solidFill>
                  <a:srgbClr val="97BC62"/>
                </a:solidFill>
                <a:latin typeface="Calibri"/>
              </a:rPr>
              <a:t>EVALUATION RESULTS</a:t>
            </a:r>
          </a:p>
        </p:txBody>
      </p:sp>
      <p:sp>
        <p:nvSpPr>
          <p:cNvPr id="4" name="TextBox 3"/>
          <p:cNvSpPr txBox="1"/>
          <p:nvPr/>
        </p:nvSpPr>
        <p:spPr>
          <a:xfrm>
            <a:off x="658368" y="2468880"/>
            <a:ext cx="10881360" cy="822960"/>
          </a:xfrm>
          <a:prstGeom prst="rect">
            <a:avLst/>
          </a:prstGeom>
          <a:noFill/>
        </p:spPr>
        <p:txBody>
          <a:bodyPr wrap="square" lIns="0" rIns="0" tIns="0" bIns="0">
            <a:spAutoFit/>
          </a:bodyPr>
          <a:lstStyle/>
          <a:p>
            <a:pPr algn="l">
              <a:lnSpc>
                <a:spcPct val="100000"/>
              </a:lnSpc>
            </a:pPr>
            <a:r>
              <a:rPr sz="3300" b="1">
                <a:solidFill>
                  <a:srgbClr val="D8DED8"/>
                </a:solidFill>
                <a:latin typeface="Cambria"/>
              </a:rPr>
              <a:t>System Performance and Solution Effectiveness</a:t>
            </a:r>
          </a:p>
        </p:txBody>
      </p:sp>
      <p:sp>
        <p:nvSpPr>
          <p:cNvPr id="5" name="TextBox 4"/>
          <p:cNvSpPr txBox="1"/>
          <p:nvPr/>
        </p:nvSpPr>
        <p:spPr>
          <a:xfrm>
            <a:off x="658368" y="3310128"/>
            <a:ext cx="10424160" cy="457200"/>
          </a:xfrm>
          <a:prstGeom prst="rect">
            <a:avLst/>
          </a:prstGeom>
          <a:noFill/>
        </p:spPr>
        <p:txBody>
          <a:bodyPr wrap="square" lIns="0" rIns="0" tIns="0" bIns="0">
            <a:spAutoFit/>
          </a:bodyPr>
          <a:lstStyle/>
          <a:p>
            <a:pPr algn="l">
              <a:lnSpc>
                <a:spcPct val="100000"/>
              </a:lnSpc>
            </a:pPr>
            <a:r>
              <a:rPr sz="1500" b="0">
                <a:solidFill>
                  <a:srgbClr val="A8B4A8"/>
                </a:solidFill>
                <a:latin typeface="Calibri"/>
              </a:rPr>
              <a:t>Federated and explainable crop-yield analytics · GRU over 12-month climate sequences · federation by state</a:t>
            </a:r>
          </a:p>
        </p:txBody>
      </p:sp>
      <p:sp>
        <p:nvSpPr>
          <p:cNvPr id="6" name="TextBox 5"/>
          <p:cNvSpPr txBox="1"/>
          <p:nvPr/>
        </p:nvSpPr>
        <p:spPr>
          <a:xfrm>
            <a:off x="658368" y="4617720"/>
            <a:ext cx="2377440" cy="411480"/>
          </a:xfrm>
          <a:prstGeom prst="rect">
            <a:avLst/>
          </a:prstGeom>
          <a:noFill/>
        </p:spPr>
        <p:txBody>
          <a:bodyPr wrap="square" lIns="0" rIns="0" tIns="0" bIns="0">
            <a:spAutoFit/>
          </a:bodyPr>
          <a:lstStyle/>
          <a:p>
            <a:pPr algn="l">
              <a:lnSpc>
                <a:spcPct val="100000"/>
              </a:lnSpc>
            </a:pPr>
            <a:r>
              <a:rPr sz="2700" b="1">
                <a:solidFill>
                  <a:srgbClr val="97BC62"/>
                </a:solidFill>
                <a:latin typeface="Cambria"/>
              </a:rPr>
              <a:t>10,223</a:t>
            </a:r>
          </a:p>
        </p:txBody>
      </p:sp>
      <p:sp>
        <p:nvSpPr>
          <p:cNvPr id="7" name="TextBox 6"/>
          <p:cNvSpPr txBox="1"/>
          <p:nvPr/>
        </p:nvSpPr>
        <p:spPr>
          <a:xfrm>
            <a:off x="658368" y="5102352"/>
            <a:ext cx="2377440" cy="274320"/>
          </a:xfrm>
          <a:prstGeom prst="rect">
            <a:avLst/>
          </a:prstGeom>
          <a:noFill/>
        </p:spPr>
        <p:txBody>
          <a:bodyPr wrap="square" lIns="0" rIns="0" tIns="0" bIns="0">
            <a:spAutoFit/>
          </a:bodyPr>
          <a:lstStyle/>
          <a:p>
            <a:pPr algn="l">
              <a:lnSpc>
                <a:spcPct val="100000"/>
              </a:lnSpc>
            </a:pPr>
            <a:r>
              <a:rPr sz="1200" b="0">
                <a:solidFill>
                  <a:srgbClr val="A8B4A8"/>
                </a:solidFill>
                <a:latin typeface="Calibri"/>
              </a:rPr>
              <a:t>rows after cleaning</a:t>
            </a:r>
          </a:p>
        </p:txBody>
      </p:sp>
      <p:sp>
        <p:nvSpPr>
          <p:cNvPr id="8" name="TextBox 7"/>
          <p:cNvSpPr txBox="1"/>
          <p:nvPr/>
        </p:nvSpPr>
        <p:spPr>
          <a:xfrm>
            <a:off x="3264408" y="4617720"/>
            <a:ext cx="2377440" cy="411480"/>
          </a:xfrm>
          <a:prstGeom prst="rect">
            <a:avLst/>
          </a:prstGeom>
          <a:noFill/>
        </p:spPr>
        <p:txBody>
          <a:bodyPr wrap="square" lIns="0" rIns="0" tIns="0" bIns="0">
            <a:spAutoFit/>
          </a:bodyPr>
          <a:lstStyle/>
          <a:p>
            <a:pPr algn="l">
              <a:lnSpc>
                <a:spcPct val="100000"/>
              </a:lnSpc>
            </a:pPr>
            <a:r>
              <a:rPr sz="2700" b="1">
                <a:solidFill>
                  <a:srgbClr val="97BC62"/>
                </a:solidFill>
                <a:latin typeface="Cambria"/>
              </a:rPr>
              <a:t>501</a:t>
            </a:r>
          </a:p>
        </p:txBody>
      </p:sp>
      <p:sp>
        <p:nvSpPr>
          <p:cNvPr id="9" name="TextBox 8"/>
          <p:cNvSpPr txBox="1"/>
          <p:nvPr/>
        </p:nvSpPr>
        <p:spPr>
          <a:xfrm>
            <a:off x="3264408" y="5102352"/>
            <a:ext cx="2377440" cy="274320"/>
          </a:xfrm>
          <a:prstGeom prst="rect">
            <a:avLst/>
          </a:prstGeom>
          <a:noFill/>
        </p:spPr>
        <p:txBody>
          <a:bodyPr wrap="square" lIns="0" rIns="0" tIns="0" bIns="0">
            <a:spAutoFit/>
          </a:bodyPr>
          <a:lstStyle/>
          <a:p>
            <a:pPr algn="l">
              <a:lnSpc>
                <a:spcPct val="100000"/>
              </a:lnSpc>
            </a:pPr>
            <a:r>
              <a:rPr sz="1200" b="0">
                <a:solidFill>
                  <a:srgbClr val="A8B4A8"/>
                </a:solidFill>
                <a:latin typeface="Calibri"/>
              </a:rPr>
              <a:t>districts</a:t>
            </a:r>
          </a:p>
        </p:txBody>
      </p:sp>
      <p:sp>
        <p:nvSpPr>
          <p:cNvPr id="10" name="TextBox 9"/>
          <p:cNvSpPr txBox="1"/>
          <p:nvPr/>
        </p:nvSpPr>
        <p:spPr>
          <a:xfrm>
            <a:off x="5870448" y="4617720"/>
            <a:ext cx="2377440" cy="411480"/>
          </a:xfrm>
          <a:prstGeom prst="rect">
            <a:avLst/>
          </a:prstGeom>
          <a:noFill/>
        </p:spPr>
        <p:txBody>
          <a:bodyPr wrap="square" lIns="0" rIns="0" tIns="0" bIns="0">
            <a:spAutoFit/>
          </a:bodyPr>
          <a:lstStyle/>
          <a:p>
            <a:pPr algn="l">
              <a:lnSpc>
                <a:spcPct val="100000"/>
              </a:lnSpc>
            </a:pPr>
            <a:r>
              <a:rPr sz="2700" b="1">
                <a:solidFill>
                  <a:srgbClr val="97BC62"/>
                </a:solidFill>
                <a:latin typeface="Cambria"/>
              </a:rPr>
              <a:t>20</a:t>
            </a:r>
          </a:p>
        </p:txBody>
      </p:sp>
      <p:sp>
        <p:nvSpPr>
          <p:cNvPr id="11" name="TextBox 10"/>
          <p:cNvSpPr txBox="1"/>
          <p:nvPr/>
        </p:nvSpPr>
        <p:spPr>
          <a:xfrm>
            <a:off x="5870448" y="5102352"/>
            <a:ext cx="2377440" cy="274320"/>
          </a:xfrm>
          <a:prstGeom prst="rect">
            <a:avLst/>
          </a:prstGeom>
          <a:noFill/>
        </p:spPr>
        <p:txBody>
          <a:bodyPr wrap="square" lIns="0" rIns="0" tIns="0" bIns="0">
            <a:spAutoFit/>
          </a:bodyPr>
          <a:lstStyle/>
          <a:p>
            <a:pPr algn="l">
              <a:lnSpc>
                <a:spcPct val="100000"/>
              </a:lnSpc>
            </a:pPr>
            <a:r>
              <a:rPr sz="1200" b="0">
                <a:solidFill>
                  <a:srgbClr val="A8B4A8"/>
                </a:solidFill>
                <a:latin typeface="Calibri"/>
              </a:rPr>
              <a:t>states as clients</a:t>
            </a:r>
          </a:p>
        </p:txBody>
      </p:sp>
      <p:sp>
        <p:nvSpPr>
          <p:cNvPr id="12" name="TextBox 11"/>
          <p:cNvSpPr txBox="1"/>
          <p:nvPr/>
        </p:nvSpPr>
        <p:spPr>
          <a:xfrm>
            <a:off x="8476488" y="4617720"/>
            <a:ext cx="2377440" cy="411480"/>
          </a:xfrm>
          <a:prstGeom prst="rect">
            <a:avLst/>
          </a:prstGeom>
          <a:noFill/>
        </p:spPr>
        <p:txBody>
          <a:bodyPr wrap="square" lIns="0" rIns="0" tIns="0" bIns="0">
            <a:spAutoFit/>
          </a:bodyPr>
          <a:lstStyle/>
          <a:p>
            <a:pPr algn="l">
              <a:lnSpc>
                <a:spcPct val="100000"/>
              </a:lnSpc>
            </a:pPr>
            <a:r>
              <a:rPr sz="2700" b="1">
                <a:solidFill>
                  <a:srgbClr val="97BC62"/>
                </a:solidFill>
                <a:latin typeface="Cambria"/>
              </a:rPr>
              <a:t>1990–2015</a:t>
            </a:r>
          </a:p>
        </p:txBody>
      </p:sp>
      <p:sp>
        <p:nvSpPr>
          <p:cNvPr id="13" name="TextBox 12"/>
          <p:cNvSpPr txBox="1"/>
          <p:nvPr/>
        </p:nvSpPr>
        <p:spPr>
          <a:xfrm>
            <a:off x="8476488" y="5102352"/>
            <a:ext cx="2377440" cy="274320"/>
          </a:xfrm>
          <a:prstGeom prst="rect">
            <a:avLst/>
          </a:prstGeom>
          <a:noFill/>
        </p:spPr>
        <p:txBody>
          <a:bodyPr wrap="square" lIns="0" rIns="0" tIns="0" bIns="0">
            <a:spAutoFit/>
          </a:bodyPr>
          <a:lstStyle/>
          <a:p>
            <a:pPr algn="l">
              <a:lnSpc>
                <a:spcPct val="100000"/>
              </a:lnSpc>
            </a:pPr>
            <a:r>
              <a:rPr sz="1200" b="0">
                <a:solidFill>
                  <a:srgbClr val="A8B4A8"/>
                </a:solidFill>
                <a:latin typeface="Calibri"/>
              </a:rPr>
              <a:t>years</a:t>
            </a:r>
          </a:p>
        </p:txBody>
      </p:sp>
      <p:sp>
        <p:nvSpPr>
          <p:cNvPr id="14" name="TextBox 13"/>
          <p:cNvSpPr txBox="1"/>
          <p:nvPr/>
        </p:nvSpPr>
        <p:spPr>
          <a:xfrm>
            <a:off x="658368" y="5989320"/>
            <a:ext cx="10874959" cy="731520"/>
          </a:xfrm>
          <a:prstGeom prst="rect">
            <a:avLst/>
          </a:prstGeom>
          <a:noFill/>
        </p:spPr>
        <p:txBody>
          <a:bodyPr wrap="square" lIns="0" rIns="0" tIns="0" bIns="0">
            <a:spAutoFit/>
          </a:bodyPr>
          <a:lstStyle/>
          <a:p>
            <a:pPr algn="l">
              <a:lnSpc>
                <a:spcPct val="112000"/>
              </a:lnSpc>
            </a:pPr>
            <a:r>
              <a:rPr sz="1400" b="0">
                <a:solidFill>
                  <a:srgbClr val="A8B4A8"/>
                </a:solidFill>
                <a:latin typeface="Calibri"/>
              </a:rPr>
              <a:t>Every figure in this deck is read from artifacts/results/*.json by scripts/09_evaluation_deck.py at build time. No number is typed into a slide by hand, so the deck, the report and the results API cannot disagree.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B1C"/>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223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82880"/>
            <a:ext cx="10058400" cy="237744"/>
          </a:xfrm>
          <a:prstGeom prst="rect">
            <a:avLst/>
          </a:prstGeom>
          <a:noFill/>
        </p:spPr>
        <p:txBody>
          <a:bodyPr wrap="square" lIns="0" rIns="0" tIns="0" bIns="0">
            <a:spAutoFit/>
          </a:bodyPr>
          <a:lstStyle/>
          <a:p>
            <a:pPr algn="l">
              <a:lnSpc>
                <a:spcPct val="100000"/>
              </a:lnSpc>
            </a:pPr>
            <a:r>
              <a:rPr sz="1100" b="1">
                <a:solidFill>
                  <a:srgbClr val="97BC62"/>
                </a:solidFill>
                <a:latin typeface="Calibri"/>
              </a:rPr>
              <a:t>HOW TO READ THIS DECK</a:t>
            </a:r>
          </a:p>
        </p:txBody>
      </p:sp>
      <p:sp>
        <p:nvSpPr>
          <p:cNvPr id="4" name="TextBox 3"/>
          <p:cNvSpPr txBox="1"/>
          <p:nvPr/>
        </p:nvSpPr>
        <p:spPr>
          <a:xfrm>
            <a:off x="658368" y="420624"/>
            <a:ext cx="10881360" cy="457200"/>
          </a:xfrm>
          <a:prstGeom prst="rect">
            <a:avLst/>
          </a:prstGeom>
          <a:noFill/>
        </p:spPr>
        <p:txBody>
          <a:bodyPr wrap="square" lIns="0" rIns="0" tIns="0" bIns="0">
            <a:spAutoFit/>
          </a:bodyPr>
          <a:lstStyle/>
          <a:p>
            <a:pPr algn="l">
              <a:lnSpc>
                <a:spcPct val="100000"/>
              </a:lnSpc>
            </a:pPr>
            <a:r>
              <a:rPr sz="2500" b="1">
                <a:solidFill>
                  <a:srgbClr val="D8DED8"/>
                </a:solidFill>
                <a:latin typeface="Cambria"/>
              </a:rPr>
              <a:t>What is being compared</a:t>
            </a:r>
          </a:p>
        </p:txBody>
      </p:sp>
      <p:graphicFrame>
        <p:nvGraphicFramePr>
          <p:cNvPr id="5" name="Table 4"/>
          <p:cNvGraphicFramePr>
            <a:graphicFrameLocks noGrp="1"/>
          </p:cNvGraphicFramePr>
          <p:nvPr/>
        </p:nvGraphicFramePr>
        <p:xfrm>
          <a:off x="658368" y="1298448"/>
          <a:ext cx="10874958" cy="3867912"/>
        </p:xfrm>
        <a:graphic>
          <a:graphicData uri="http://schemas.openxmlformats.org/drawingml/2006/table">
            <a:tbl>
              <a:tblPr>
                <a:tableStyleId>{5C22544A-7EE6-4342-B048-85BDC9FD1C3A}</a:tableStyleId>
              </a:tblPr>
              <a:tblGrid>
                <a:gridCol w="2051879"/>
                <a:gridCol w="1641503"/>
                <a:gridCol w="7181576"/>
              </a:tblGrid>
              <a:tr h="429768">
                <a:tc>
                  <a:txBody>
                    <a:bodyPr/>
                    <a:lstStyle/>
                    <a:p>
                      <a:pPr algn="l"/>
                      <a:r>
                        <a:rPr sz="1350" b="1">
                          <a:solidFill>
                            <a:srgbClr val="D8DED8"/>
                          </a:solidFill>
                          <a:latin typeface="Calibri"/>
                        </a:rPr>
                        <a:t>Arm</a:t>
                      </a:r>
                    </a:p>
                  </a:txBody>
                  <a:tcPr marL="91440" marR="73152" marT="18288" marB="18288" anchor="ctr">
                    <a:solidFill>
                      <a:srgbClr val="2C5F2D"/>
                    </a:solidFill>
                  </a:tcPr>
                </a:tc>
                <a:tc>
                  <a:txBody>
                    <a:bodyPr/>
                    <a:lstStyle/>
                    <a:p>
                      <a:pPr algn="l"/>
                      <a:r>
                        <a:rPr sz="1350" b="1">
                          <a:solidFill>
                            <a:srgbClr val="D8DED8"/>
                          </a:solidFill>
                          <a:latin typeface="Calibri"/>
                        </a:rPr>
                        <a:t>Kind</a:t>
                      </a:r>
                    </a:p>
                  </a:txBody>
                  <a:tcPr marL="91440" marR="73152" marT="18288" marB="18288" anchor="ctr">
                    <a:solidFill>
                      <a:srgbClr val="2C5F2D"/>
                    </a:solidFill>
                  </a:tcPr>
                </a:tc>
                <a:tc>
                  <a:txBody>
                    <a:bodyPr/>
                    <a:lstStyle/>
                    <a:p>
                      <a:pPr algn="l"/>
                      <a:r>
                        <a:rPr sz="1350" b="1">
                          <a:solidFill>
                            <a:srgbClr val="D8DED8"/>
                          </a:solidFill>
                          <a:latin typeface="Calibri"/>
                        </a:rPr>
                        <a:t>What it does</a:t>
                      </a:r>
                    </a:p>
                  </a:txBody>
                  <a:tcPr marL="91440" marR="73152" marT="18288" marB="18288" anchor="ctr">
                    <a:solidFill>
                      <a:srgbClr val="2C5F2D"/>
                    </a:solidFill>
                  </a:tcPr>
                </a:tc>
              </a:tr>
              <a:tr h="429768">
                <a:tc>
                  <a:txBody>
                    <a:bodyPr/>
                    <a:lstStyle/>
                    <a:p>
                      <a:pPr algn="l"/>
                      <a:r>
                        <a:rPr sz="1350" b="1">
                          <a:solidFill>
                            <a:srgbClr val="D8DED8"/>
                          </a:solidFill>
                          <a:latin typeface="Calibri"/>
                        </a:rPr>
                        <a:t>Global mean</a:t>
                      </a:r>
                    </a:p>
                  </a:txBody>
                  <a:tcPr marL="91440" marR="73152" marT="18288" marB="18288" anchor="ctr">
                    <a:solidFill>
                      <a:srgbClr val="223522"/>
                    </a:solidFill>
                  </a:tcPr>
                </a:tc>
                <a:tc>
                  <a:txBody>
                    <a:bodyPr/>
                    <a:lstStyle/>
                    <a:p>
                      <a:pPr algn="l"/>
                      <a:r>
                        <a:rPr sz="1350" b="0">
                          <a:solidFill>
                            <a:srgbClr val="D8DED8"/>
                          </a:solidFill>
                          <a:latin typeface="Calibri"/>
                        </a:rPr>
                        <a:t>Baseline</a:t>
                      </a:r>
                    </a:p>
                  </a:txBody>
                  <a:tcPr marL="91440" marR="73152" marT="18288" marB="18288" anchor="ctr">
                    <a:solidFill>
                      <a:srgbClr val="223522"/>
                    </a:solidFill>
                  </a:tcPr>
                </a:tc>
                <a:tc>
                  <a:txBody>
                    <a:bodyPr/>
                    <a:lstStyle/>
                    <a:p>
                      <a:pPr algn="l"/>
                      <a:r>
                        <a:rPr sz="1350" b="0">
                          <a:solidFill>
                            <a:srgbClr val="D8DED8"/>
                          </a:solidFill>
                          <a:latin typeface="Calibri"/>
                        </a:rPr>
                        <a:t>One mean yield for the whole panel</a:t>
                      </a:r>
                    </a:p>
                  </a:txBody>
                  <a:tcPr marL="91440" marR="73152" marT="18288" marB="18288" anchor="ctr">
                    <a:solidFill>
                      <a:srgbClr val="223522"/>
                    </a:solidFill>
                  </a:tcPr>
                </a:tc>
              </a:tr>
              <a:tr h="429768">
                <a:tc>
                  <a:txBody>
                    <a:bodyPr/>
                    <a:lstStyle/>
                    <a:p>
                      <a:pPr algn="l"/>
                      <a:r>
                        <a:rPr sz="1350" b="1">
                          <a:solidFill>
                            <a:srgbClr val="D8DED8"/>
                          </a:solidFill>
                          <a:latin typeface="Calibri"/>
                        </a:rPr>
                        <a:t>District mean</a:t>
                      </a:r>
                    </a:p>
                  </a:txBody>
                  <a:tcPr marL="91440" marR="73152" marT="18288" marB="18288" anchor="ctr">
                    <a:solidFill>
                      <a:srgbClr val="223522"/>
                    </a:solidFill>
                  </a:tcPr>
                </a:tc>
                <a:tc>
                  <a:txBody>
                    <a:bodyPr/>
                    <a:lstStyle/>
                    <a:p>
                      <a:pPr algn="l"/>
                      <a:r>
                        <a:rPr sz="1350" b="0">
                          <a:solidFill>
                            <a:srgbClr val="D8DED8"/>
                          </a:solidFill>
                          <a:latin typeface="Calibri"/>
                        </a:rPr>
                        <a:t>Baseline</a:t>
                      </a:r>
                    </a:p>
                  </a:txBody>
                  <a:tcPr marL="91440" marR="73152" marT="18288" marB="18288" anchor="ctr">
                    <a:solidFill>
                      <a:srgbClr val="223522"/>
                    </a:solidFill>
                  </a:tcPr>
                </a:tc>
                <a:tc>
                  <a:txBody>
                    <a:bodyPr/>
                    <a:lstStyle/>
                    <a:p>
                      <a:pPr algn="l"/>
                      <a:r>
                        <a:rPr sz="1350" b="0">
                          <a:solidFill>
                            <a:srgbClr val="D8DED8"/>
                          </a:solidFill>
                          <a:latin typeface="Calibri"/>
                        </a:rPr>
                        <a:t>Each district's own historical mean</a:t>
                      </a:r>
                    </a:p>
                  </a:txBody>
                  <a:tcPr marL="91440" marR="73152" marT="18288" marB="18288" anchor="ctr">
                    <a:solidFill>
                      <a:srgbClr val="223522"/>
                    </a:solidFill>
                  </a:tcPr>
                </a:tc>
              </a:tr>
              <a:tr h="429768">
                <a:tc>
                  <a:txBody>
                    <a:bodyPr/>
                    <a:lstStyle/>
                    <a:p>
                      <a:pPr algn="l"/>
                      <a:r>
                        <a:rPr sz="1350" b="1">
                          <a:solidFill>
                            <a:srgbClr val="D8DED8"/>
                          </a:solidFill>
                          <a:latin typeface="Calibri"/>
                        </a:rPr>
                        <a:t>District trend</a:t>
                      </a:r>
                    </a:p>
                  </a:txBody>
                  <a:tcPr marL="91440" marR="73152" marT="18288" marB="18288" anchor="ctr">
                    <a:solidFill>
                      <a:srgbClr val="223522"/>
                    </a:solidFill>
                  </a:tcPr>
                </a:tc>
                <a:tc>
                  <a:txBody>
                    <a:bodyPr/>
                    <a:lstStyle/>
                    <a:p>
                      <a:pPr algn="l"/>
                      <a:r>
                        <a:rPr sz="1350" b="0">
                          <a:solidFill>
                            <a:srgbClr val="D8DED8"/>
                          </a:solidFill>
                          <a:latin typeface="Calibri"/>
                        </a:rPr>
                        <a:t>Reference</a:t>
                      </a:r>
                    </a:p>
                  </a:txBody>
                  <a:tcPr marL="91440" marR="73152" marT="18288" marB="18288" anchor="ctr">
                    <a:solidFill>
                      <a:srgbClr val="223522"/>
                    </a:solidFill>
                  </a:tcPr>
                </a:tc>
                <a:tc>
                  <a:txBody>
                    <a:bodyPr/>
                    <a:lstStyle/>
                    <a:p>
                      <a:pPr algn="l"/>
                      <a:r>
                        <a:rPr sz="1350" b="0">
                          <a:solidFill>
                            <a:srgbClr val="D8DED8"/>
                          </a:solidFill>
                          <a:latin typeface="Calibri"/>
                        </a:rPr>
                        <a:t>Linear extrapolation of each district's trend</a:t>
                      </a:r>
                    </a:p>
                  </a:txBody>
                  <a:tcPr marL="91440" marR="73152" marT="18288" marB="18288" anchor="ctr">
                    <a:solidFill>
                      <a:srgbClr val="223522"/>
                    </a:solidFill>
                  </a:tcPr>
                </a:tc>
              </a:tr>
              <a:tr h="429768">
                <a:tc>
                  <a:txBody>
                    <a:bodyPr/>
                    <a:lstStyle/>
                    <a:p>
                      <a:pPr algn="l"/>
                      <a:r>
                        <a:rPr sz="1350" b="1">
                          <a:solidFill>
                            <a:srgbClr val="D8DED8"/>
                          </a:solidFill>
                          <a:latin typeface="Calibri"/>
                        </a:rPr>
                        <a:t>Centralised</a:t>
                      </a:r>
                    </a:p>
                  </a:txBody>
                  <a:tcPr marL="91440" marR="73152" marT="18288" marB="18288" anchor="ctr">
                    <a:solidFill>
                      <a:srgbClr val="223522"/>
                    </a:solidFill>
                  </a:tcPr>
                </a:tc>
                <a:tc>
                  <a:txBody>
                    <a:bodyPr/>
                    <a:lstStyle/>
                    <a:p>
                      <a:pPr algn="l"/>
                      <a:r>
                        <a:rPr sz="1350" b="0">
                          <a:solidFill>
                            <a:srgbClr val="D8DED8"/>
                          </a:solidFill>
                          <a:latin typeface="Calibri"/>
                        </a:rPr>
                        <a:t>Ceiling</a:t>
                      </a:r>
                    </a:p>
                  </a:txBody>
                  <a:tcPr marL="91440" marR="73152" marT="18288" marB="18288" anchor="ctr">
                    <a:solidFill>
                      <a:srgbClr val="223522"/>
                    </a:solidFill>
                  </a:tcPr>
                </a:tc>
                <a:tc>
                  <a:txBody>
                    <a:bodyPr/>
                    <a:lstStyle/>
                    <a:p>
                      <a:pPr algn="l"/>
                      <a:r>
                        <a:rPr sz="1350" b="0">
                          <a:solidFill>
                            <a:srgbClr val="D8DED8"/>
                          </a:solidFill>
                          <a:latin typeface="Calibri"/>
                        </a:rPr>
                        <a:t>One model, all data pooled in one place</a:t>
                      </a:r>
                    </a:p>
                  </a:txBody>
                  <a:tcPr marL="91440" marR="73152" marT="18288" marB="18288" anchor="ctr">
                    <a:solidFill>
                      <a:srgbClr val="223522"/>
                    </a:solidFill>
                  </a:tcPr>
                </a:tc>
              </a:tr>
              <a:tr h="429768">
                <a:tc>
                  <a:txBody>
                    <a:bodyPr/>
                    <a:lstStyle/>
                    <a:p>
                      <a:pPr algn="l"/>
                      <a:r>
                        <a:rPr sz="1350" b="1">
                          <a:solidFill>
                            <a:srgbClr val="D8DED8"/>
                          </a:solidFill>
                          <a:latin typeface="Calibri"/>
                        </a:rPr>
                        <a:t>Local-only</a:t>
                      </a:r>
                    </a:p>
                  </a:txBody>
                  <a:tcPr marL="91440" marR="73152" marT="18288" marB="18288" anchor="ctr">
                    <a:solidFill>
                      <a:srgbClr val="223522"/>
                    </a:solidFill>
                  </a:tcPr>
                </a:tc>
                <a:tc>
                  <a:txBody>
                    <a:bodyPr/>
                    <a:lstStyle/>
                    <a:p>
                      <a:pPr algn="l"/>
                      <a:r>
                        <a:rPr sz="1350" b="0">
                          <a:solidFill>
                            <a:srgbClr val="D8DED8"/>
                          </a:solidFill>
                          <a:latin typeface="Calibri"/>
                        </a:rPr>
                        <a:t>Floor</a:t>
                      </a:r>
                    </a:p>
                  </a:txBody>
                  <a:tcPr marL="91440" marR="73152" marT="18288" marB="18288" anchor="ctr">
                    <a:solidFill>
                      <a:srgbClr val="223522"/>
                    </a:solidFill>
                  </a:tcPr>
                </a:tc>
                <a:tc>
                  <a:txBody>
                    <a:bodyPr/>
                    <a:lstStyle/>
                    <a:p>
                      <a:pPr algn="l"/>
                      <a:r>
                        <a:rPr sz="1350" b="0">
                          <a:solidFill>
                            <a:srgbClr val="D8DED8"/>
                          </a:solidFill>
                          <a:latin typeface="Calibri"/>
                        </a:rPr>
                        <a:t>One model per state, no sharing at all</a:t>
                      </a:r>
                    </a:p>
                  </a:txBody>
                  <a:tcPr marL="91440" marR="73152" marT="18288" marB="18288" anchor="ctr">
                    <a:solidFill>
                      <a:srgbClr val="223522"/>
                    </a:solidFill>
                  </a:tcPr>
                </a:tc>
              </a:tr>
              <a:tr h="429768">
                <a:tc>
                  <a:txBody>
                    <a:bodyPr/>
                    <a:lstStyle/>
                    <a:p>
                      <a:pPr algn="l"/>
                      <a:r>
                        <a:rPr sz="1350" b="1">
                          <a:solidFill>
                            <a:srgbClr val="D8DED8"/>
                          </a:solidFill>
                          <a:latin typeface="Calibri"/>
                        </a:rPr>
                        <a:t>FedPer</a:t>
                      </a:r>
                    </a:p>
                  </a:txBody>
                  <a:tcPr marL="91440" marR="73152" marT="18288" marB="18288" anchor="ctr">
                    <a:solidFill>
                      <a:srgbClr val="223522"/>
                    </a:solidFill>
                  </a:tcPr>
                </a:tc>
                <a:tc>
                  <a:txBody>
                    <a:bodyPr/>
                    <a:lstStyle/>
                    <a:p>
                      <a:pPr algn="l"/>
                      <a:r>
                        <a:rPr sz="1350" b="0">
                          <a:solidFill>
                            <a:srgbClr val="D8DED8"/>
                          </a:solidFill>
                          <a:latin typeface="Calibri"/>
                        </a:rPr>
                        <a:t>Federated</a:t>
                      </a:r>
                    </a:p>
                  </a:txBody>
                  <a:tcPr marL="91440" marR="73152" marT="18288" marB="18288" anchor="ctr">
                    <a:solidFill>
                      <a:srgbClr val="223522"/>
                    </a:solidFill>
                  </a:tcPr>
                </a:tc>
                <a:tc>
                  <a:txBody>
                    <a:bodyPr/>
                    <a:lstStyle/>
                    <a:p>
                      <a:pPr algn="l"/>
                      <a:r>
                        <a:rPr sz="1350" b="0">
                          <a:solidFill>
                            <a:srgbClr val="D8DED8"/>
                          </a:solidFill>
                          <a:latin typeface="Calibri"/>
                        </a:rPr>
                        <a:t>Shares the GRU base, keeps the head local</a:t>
                      </a:r>
                    </a:p>
                  </a:txBody>
                  <a:tcPr marL="91440" marR="73152" marT="18288" marB="18288" anchor="ctr">
                    <a:solidFill>
                      <a:srgbClr val="223522"/>
                    </a:solidFill>
                  </a:tcPr>
                </a:tc>
              </a:tr>
              <a:tr h="429768">
                <a:tc>
                  <a:txBody>
                    <a:bodyPr/>
                    <a:lstStyle/>
                    <a:p>
                      <a:pPr algn="l"/>
                      <a:r>
                        <a:rPr sz="1350" b="1">
                          <a:solidFill>
                            <a:srgbClr val="D8DED8"/>
                          </a:solidFill>
                          <a:latin typeface="Calibri"/>
                        </a:rPr>
                        <a:t>FedAvg</a:t>
                      </a:r>
                    </a:p>
                  </a:txBody>
                  <a:tcPr marL="91440" marR="73152" marT="18288" marB="18288" anchor="ctr">
                    <a:solidFill>
                      <a:srgbClr val="223522"/>
                    </a:solidFill>
                  </a:tcPr>
                </a:tc>
                <a:tc>
                  <a:txBody>
                    <a:bodyPr/>
                    <a:lstStyle/>
                    <a:p>
                      <a:pPr algn="l"/>
                      <a:r>
                        <a:rPr sz="1350" b="0">
                          <a:solidFill>
                            <a:srgbClr val="D8DED8"/>
                          </a:solidFill>
                          <a:latin typeface="Calibri"/>
                        </a:rPr>
                        <a:t>Federated</a:t>
                      </a:r>
                    </a:p>
                  </a:txBody>
                  <a:tcPr marL="91440" marR="73152" marT="18288" marB="18288" anchor="ctr">
                    <a:solidFill>
                      <a:srgbClr val="223522"/>
                    </a:solidFill>
                  </a:tcPr>
                </a:tc>
                <a:tc>
                  <a:txBody>
                    <a:bodyPr/>
                    <a:lstStyle/>
                    <a:p>
                      <a:pPr algn="l"/>
                      <a:r>
                        <a:rPr sz="1350" b="0">
                          <a:solidFill>
                            <a:srgbClr val="D8DED8"/>
                          </a:solidFill>
                          <a:latin typeface="Calibri"/>
                        </a:rPr>
                        <a:t>Weighted averaging of all weights each round</a:t>
                      </a:r>
                    </a:p>
                  </a:txBody>
                  <a:tcPr marL="91440" marR="73152" marT="18288" marB="18288" anchor="ctr">
                    <a:solidFill>
                      <a:srgbClr val="223522"/>
                    </a:solidFill>
                  </a:tcPr>
                </a:tc>
              </a:tr>
              <a:tr h="429768">
                <a:tc>
                  <a:txBody>
                    <a:bodyPr/>
                    <a:lstStyle/>
                    <a:p>
                      <a:pPr algn="l"/>
                      <a:r>
                        <a:rPr sz="1350" b="1">
                          <a:solidFill>
                            <a:srgbClr val="D8DED8"/>
                          </a:solidFill>
                          <a:latin typeface="Calibri"/>
                        </a:rPr>
                        <a:t>FedProx</a:t>
                      </a:r>
                    </a:p>
                  </a:txBody>
                  <a:tcPr marL="91440" marR="73152" marT="18288" marB="18288" anchor="ctr">
                    <a:solidFill>
                      <a:srgbClr val="223522"/>
                    </a:solidFill>
                  </a:tcPr>
                </a:tc>
                <a:tc>
                  <a:txBody>
                    <a:bodyPr/>
                    <a:lstStyle/>
                    <a:p>
                      <a:pPr algn="l"/>
                      <a:r>
                        <a:rPr sz="1350" b="0">
                          <a:solidFill>
                            <a:srgbClr val="D8DED8"/>
                          </a:solidFill>
                          <a:latin typeface="Calibri"/>
                        </a:rPr>
                        <a:t>Federated</a:t>
                      </a:r>
                    </a:p>
                  </a:txBody>
                  <a:tcPr marL="91440" marR="73152" marT="18288" marB="18288" anchor="ctr">
                    <a:solidFill>
                      <a:srgbClr val="223522"/>
                    </a:solidFill>
                  </a:tcPr>
                </a:tc>
                <a:tc>
                  <a:txBody>
                    <a:bodyPr/>
                    <a:lstStyle/>
                    <a:p>
                      <a:pPr algn="l"/>
                      <a:r>
                        <a:rPr sz="1350" b="0">
                          <a:solidFill>
                            <a:srgbClr val="D8DED8"/>
                          </a:solidFill>
                          <a:latin typeface="Calibri"/>
                        </a:rPr>
                        <a:t>FedAvg plus a proximal term against client drift</a:t>
                      </a:r>
                    </a:p>
                  </a:txBody>
                  <a:tcPr marL="91440" marR="73152" marT="18288" marB="18288" anchor="ctr">
                    <a:solidFill>
                      <a:srgbClr val="223522"/>
                    </a:solidFill>
                  </a:tcPr>
                </a:tc>
              </a:tr>
            </a:tbl>
          </a:graphicData>
        </a:graphic>
      </p:graphicFrame>
      <p:sp>
        <p:nvSpPr>
          <p:cNvPr id="6" name="TextBox 5"/>
          <p:cNvSpPr txBox="1"/>
          <p:nvPr/>
        </p:nvSpPr>
        <p:spPr>
          <a:xfrm>
            <a:off x="658368" y="5870448"/>
            <a:ext cx="10874959" cy="731520"/>
          </a:xfrm>
          <a:prstGeom prst="rect">
            <a:avLst/>
          </a:prstGeom>
          <a:noFill/>
        </p:spPr>
        <p:txBody>
          <a:bodyPr wrap="square" lIns="0" rIns="0" tIns="0" bIns="0">
            <a:spAutoFit/>
          </a:bodyPr>
          <a:lstStyle/>
          <a:p>
            <a:pPr algn="l">
              <a:lnSpc>
                <a:spcPct val="112000"/>
              </a:lnSpc>
            </a:pPr>
            <a:r>
              <a:rPr sz="1400" b="0">
                <a:solidFill>
                  <a:srgbClr val="A8B4A8"/>
                </a:solidFill>
                <a:latin typeface="Calibri"/>
              </a:rPr>
              <a:t>Skill is measured against the district trend baseline, not against zero. A model that cannot beat 'extrapolate each district's own trend' has not earned its complexity. Learned arms are run over 5 seeds (42–46) and reported as mean ± sample standard deviation.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B1C"/>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223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82880"/>
            <a:ext cx="10058400" cy="237744"/>
          </a:xfrm>
          <a:prstGeom prst="rect">
            <a:avLst/>
          </a:prstGeom>
          <a:noFill/>
        </p:spPr>
        <p:txBody>
          <a:bodyPr wrap="square" lIns="0" rIns="0" tIns="0" bIns="0">
            <a:spAutoFit/>
          </a:bodyPr>
          <a:lstStyle/>
          <a:p>
            <a:pPr algn="l">
              <a:lnSpc>
                <a:spcPct val="100000"/>
              </a:lnSpc>
            </a:pPr>
            <a:r>
              <a:rPr sz="1100" b="1">
                <a:solidFill>
                  <a:srgbClr val="97BC62"/>
                </a:solidFill>
                <a:latin typeface="Calibri"/>
              </a:rPr>
              <a:t>R2 · SYSTEM PERFORMANCE</a:t>
            </a:r>
          </a:p>
        </p:txBody>
      </p:sp>
      <p:sp>
        <p:nvSpPr>
          <p:cNvPr id="4" name="TextBox 3"/>
          <p:cNvSpPr txBox="1"/>
          <p:nvPr/>
        </p:nvSpPr>
        <p:spPr>
          <a:xfrm>
            <a:off x="658368" y="420624"/>
            <a:ext cx="10881360" cy="457200"/>
          </a:xfrm>
          <a:prstGeom prst="rect">
            <a:avLst/>
          </a:prstGeom>
          <a:noFill/>
        </p:spPr>
        <p:txBody>
          <a:bodyPr wrap="square" lIns="0" rIns="0" tIns="0" bIns="0">
            <a:spAutoFit/>
          </a:bodyPr>
          <a:lstStyle/>
          <a:p>
            <a:pPr algn="l">
              <a:lnSpc>
                <a:spcPct val="100000"/>
              </a:lnSpc>
            </a:pPr>
            <a:r>
              <a:rPr sz="2500" b="1">
                <a:solidFill>
                  <a:srgbClr val="D8DED8"/>
                </a:solidFill>
                <a:latin typeface="Cambria"/>
              </a:rPr>
              <a:t>Model cost</a:t>
            </a:r>
          </a:p>
        </p:txBody>
      </p:sp>
      <p:graphicFrame>
        <p:nvGraphicFramePr>
          <p:cNvPr id="5" name="Table 4"/>
          <p:cNvGraphicFramePr>
            <a:graphicFrameLocks noGrp="1"/>
          </p:cNvGraphicFramePr>
          <p:nvPr/>
        </p:nvGraphicFramePr>
        <p:xfrm>
          <a:off x="658368" y="1371600"/>
          <a:ext cx="5943600" cy="4279392"/>
        </p:xfrm>
        <a:graphic>
          <a:graphicData uri="http://schemas.openxmlformats.org/drawingml/2006/table">
            <a:tbl>
              <a:tblPr>
                <a:tableStyleId>{5C22544A-7EE6-4342-B048-85BDC9FD1C3A}</a:tableStyleId>
              </a:tblPr>
              <a:tblGrid>
                <a:gridCol w="3108960"/>
                <a:gridCol w="2834640"/>
              </a:tblGrid>
              <a:tr h="475488">
                <a:tc>
                  <a:txBody>
                    <a:bodyPr/>
                    <a:lstStyle/>
                    <a:p>
                      <a:pPr algn="l"/>
                      <a:r>
                        <a:rPr sz="1400" b="1">
                          <a:solidFill>
                            <a:srgbClr val="D8DED8"/>
                          </a:solidFill>
                          <a:latin typeface="Calibri"/>
                        </a:rPr>
                        <a:t>Quantity</a:t>
                      </a:r>
                    </a:p>
                  </a:txBody>
                  <a:tcPr marL="91440" marR="73152" marT="18288" marB="18288" anchor="ctr">
                    <a:solidFill>
                      <a:srgbClr val="2C5F2D"/>
                    </a:solidFill>
                  </a:tcPr>
                </a:tc>
                <a:tc>
                  <a:txBody>
                    <a:bodyPr/>
                    <a:lstStyle/>
                    <a:p>
                      <a:pPr algn="r"/>
                      <a:r>
                        <a:rPr sz="1400" b="1">
                          <a:solidFill>
                            <a:srgbClr val="D8DED8"/>
                          </a:solidFill>
                          <a:latin typeface="Calibri"/>
                        </a:rPr>
                        <a:t>Value</a:t>
                      </a:r>
                    </a:p>
                  </a:txBody>
                  <a:tcPr marL="91440" marR="73152" marT="18288" marB="18288" anchor="ctr">
                    <a:solidFill>
                      <a:srgbClr val="2C5F2D"/>
                    </a:solidFill>
                  </a:tcPr>
                </a:tc>
              </a:tr>
              <a:tr h="475488">
                <a:tc>
                  <a:txBody>
                    <a:bodyPr/>
                    <a:lstStyle/>
                    <a:p>
                      <a:pPr algn="l"/>
                      <a:r>
                        <a:rPr sz="1400" b="1">
                          <a:solidFill>
                            <a:srgbClr val="D8DED8"/>
                          </a:solidFill>
                          <a:latin typeface="Calibri"/>
                        </a:rPr>
                        <a:t>Total parameters</a:t>
                      </a:r>
                    </a:p>
                  </a:txBody>
                  <a:tcPr marL="91440" marR="73152" marT="18288" marB="18288" anchor="ctr">
                    <a:solidFill>
                      <a:srgbClr val="223522"/>
                    </a:solidFill>
                  </a:tcPr>
                </a:tc>
                <a:tc>
                  <a:txBody>
                    <a:bodyPr/>
                    <a:lstStyle/>
                    <a:p>
                      <a:pPr algn="r"/>
                      <a:r>
                        <a:rPr sz="1400" b="0">
                          <a:solidFill>
                            <a:srgbClr val="D8DED8"/>
                          </a:solidFill>
                          <a:latin typeface="Calibri"/>
                        </a:rPr>
                        <a:t>16,033</a:t>
                      </a:r>
                    </a:p>
                  </a:txBody>
                  <a:tcPr marL="91440" marR="73152" marT="18288" marB="18288" anchor="ctr">
                    <a:solidFill>
                      <a:srgbClr val="223522"/>
                    </a:solidFill>
                  </a:tcPr>
                </a:tc>
              </a:tr>
              <a:tr h="475488">
                <a:tc>
                  <a:txBody>
                    <a:bodyPr/>
                    <a:lstStyle/>
                    <a:p>
                      <a:pPr algn="l"/>
                      <a:r>
                        <a:rPr sz="1400" b="1">
                          <a:solidFill>
                            <a:srgbClr val="D8DED8"/>
                          </a:solidFill>
                          <a:latin typeface="Calibri"/>
                        </a:rPr>
                        <a:t>Base (GRU) parameters</a:t>
                      </a:r>
                    </a:p>
                  </a:txBody>
                  <a:tcPr marL="91440" marR="73152" marT="18288" marB="18288" anchor="ctr">
                    <a:solidFill>
                      <a:srgbClr val="223522"/>
                    </a:solidFill>
                  </a:tcPr>
                </a:tc>
                <a:tc>
                  <a:txBody>
                    <a:bodyPr/>
                    <a:lstStyle/>
                    <a:p>
                      <a:pPr algn="r"/>
                      <a:r>
                        <a:rPr sz="1400" b="0">
                          <a:solidFill>
                            <a:srgbClr val="D8DED8"/>
                          </a:solidFill>
                          <a:latin typeface="Calibri"/>
                        </a:rPr>
                        <a:t>13,632</a:t>
                      </a:r>
                    </a:p>
                  </a:txBody>
                  <a:tcPr marL="91440" marR="73152" marT="18288" marB="18288" anchor="ctr">
                    <a:solidFill>
                      <a:srgbClr val="223522"/>
                    </a:solidFill>
                  </a:tcPr>
                </a:tc>
              </a:tr>
              <a:tr h="475488">
                <a:tc>
                  <a:txBody>
                    <a:bodyPr/>
                    <a:lstStyle/>
                    <a:p>
                      <a:pPr algn="l"/>
                      <a:r>
                        <a:rPr sz="1400" b="1">
                          <a:solidFill>
                            <a:srgbClr val="D8DED8"/>
                          </a:solidFill>
                          <a:latin typeface="Calibri"/>
                        </a:rPr>
                        <a:t>Head parameters</a:t>
                      </a:r>
                    </a:p>
                  </a:txBody>
                  <a:tcPr marL="91440" marR="73152" marT="18288" marB="18288" anchor="ctr">
                    <a:solidFill>
                      <a:srgbClr val="223522"/>
                    </a:solidFill>
                  </a:tcPr>
                </a:tc>
                <a:tc>
                  <a:txBody>
                    <a:bodyPr/>
                    <a:lstStyle/>
                    <a:p>
                      <a:pPr algn="r"/>
                      <a:r>
                        <a:rPr sz="1400" b="0">
                          <a:solidFill>
                            <a:srgbClr val="D8DED8"/>
                          </a:solidFill>
                          <a:latin typeface="Calibri"/>
                        </a:rPr>
                        <a:t>2,401</a:t>
                      </a:r>
                    </a:p>
                  </a:txBody>
                  <a:tcPr marL="91440" marR="73152" marT="18288" marB="18288" anchor="ctr">
                    <a:solidFill>
                      <a:srgbClr val="223522"/>
                    </a:solidFill>
                  </a:tcPr>
                </a:tc>
              </a:tr>
              <a:tr h="475488">
                <a:tc>
                  <a:txBody>
                    <a:bodyPr/>
                    <a:lstStyle/>
                    <a:p>
                      <a:pPr algn="l"/>
                      <a:r>
                        <a:rPr sz="1400" b="1">
                          <a:solidFill>
                            <a:srgbClr val="D8DED8"/>
                          </a:solidFill>
                          <a:latin typeface="Calibri"/>
                        </a:rPr>
                        <a:t>Shared under FedPer</a:t>
                      </a:r>
                    </a:p>
                  </a:txBody>
                  <a:tcPr marL="91440" marR="73152" marT="18288" marB="18288" anchor="ctr">
                    <a:solidFill>
                      <a:srgbClr val="223522"/>
                    </a:solidFill>
                  </a:tcPr>
                </a:tc>
                <a:tc>
                  <a:txBody>
                    <a:bodyPr/>
                    <a:lstStyle/>
                    <a:p>
                      <a:pPr algn="r"/>
                      <a:r>
                        <a:rPr sz="1400" b="0">
                          <a:solidFill>
                            <a:srgbClr val="D8DED8"/>
                          </a:solidFill>
                          <a:latin typeface="Calibri"/>
                        </a:rPr>
                        <a:t>85%</a:t>
                      </a:r>
                    </a:p>
                  </a:txBody>
                  <a:tcPr marL="91440" marR="73152" marT="18288" marB="18288" anchor="ctr">
                    <a:solidFill>
                      <a:srgbClr val="223522"/>
                    </a:solidFill>
                  </a:tcPr>
                </a:tc>
              </a:tr>
              <a:tr h="475488">
                <a:tc>
                  <a:txBody>
                    <a:bodyPr/>
                    <a:lstStyle/>
                    <a:p>
                      <a:pPr algn="l"/>
                      <a:r>
                        <a:rPr sz="1400" b="1">
                          <a:solidFill>
                            <a:srgbClr val="D8DED8"/>
                          </a:solidFill>
                          <a:latin typeface="Calibri"/>
                        </a:rPr>
                        <a:t>State dict on the wire</a:t>
                      </a:r>
                    </a:p>
                  </a:txBody>
                  <a:tcPr marL="91440" marR="73152" marT="18288" marB="18288" anchor="ctr">
                    <a:solidFill>
                      <a:srgbClr val="223522"/>
                    </a:solidFill>
                  </a:tcPr>
                </a:tc>
                <a:tc>
                  <a:txBody>
                    <a:bodyPr/>
                    <a:lstStyle/>
                    <a:p>
                      <a:pPr algn="r"/>
                      <a:r>
                        <a:rPr sz="1400" b="0">
                          <a:solidFill>
                            <a:srgbClr val="D8DED8"/>
                          </a:solidFill>
                          <a:latin typeface="Calibri"/>
                        </a:rPr>
                        <a:t>62.6 KB</a:t>
                      </a:r>
                    </a:p>
                  </a:txBody>
                  <a:tcPr marL="91440" marR="73152" marT="18288" marB="18288" anchor="ctr">
                    <a:solidFill>
                      <a:srgbClr val="223522"/>
                    </a:solidFill>
                  </a:tcPr>
                </a:tc>
              </a:tr>
              <a:tr h="475488">
                <a:tc>
                  <a:txBody>
                    <a:bodyPr/>
                    <a:lstStyle/>
                    <a:p>
                      <a:pPr algn="l"/>
                      <a:r>
                        <a:rPr sz="1400" b="1">
                          <a:solidFill>
                            <a:srgbClr val="D8DED8"/>
                          </a:solidFill>
                          <a:latin typeface="Calibri"/>
                        </a:rPr>
                        <a:t>GRU FLOPs per sample</a:t>
                      </a:r>
                    </a:p>
                  </a:txBody>
                  <a:tcPr marL="91440" marR="73152" marT="18288" marB="18288" anchor="ctr">
                    <a:solidFill>
                      <a:srgbClr val="223522"/>
                    </a:solidFill>
                  </a:tcPr>
                </a:tc>
                <a:tc>
                  <a:txBody>
                    <a:bodyPr/>
                    <a:lstStyle/>
                    <a:p>
                      <a:pPr algn="r"/>
                      <a:r>
                        <a:rPr sz="1400" b="0">
                          <a:solidFill>
                            <a:srgbClr val="D8DED8"/>
                          </a:solidFill>
                          <a:latin typeface="Calibri"/>
                        </a:rPr>
                        <a:t>294,912</a:t>
                      </a:r>
                    </a:p>
                  </a:txBody>
                  <a:tcPr marL="91440" marR="73152" marT="18288" marB="18288" anchor="ctr">
                    <a:solidFill>
                      <a:srgbClr val="223522"/>
                    </a:solidFill>
                  </a:tcPr>
                </a:tc>
              </a:tr>
              <a:tr h="475488">
                <a:tc>
                  <a:txBody>
                    <a:bodyPr/>
                    <a:lstStyle/>
                    <a:p>
                      <a:pPr algn="l"/>
                      <a:r>
                        <a:rPr sz="1400" b="1">
                          <a:solidFill>
                            <a:srgbClr val="D8DED8"/>
                          </a:solidFill>
                          <a:latin typeface="Calibri"/>
                        </a:rPr>
                        <a:t>Forward cost</a:t>
                      </a:r>
                    </a:p>
                  </a:txBody>
                  <a:tcPr marL="91440" marR="73152" marT="18288" marB="18288" anchor="ctr">
                    <a:solidFill>
                      <a:srgbClr val="223522"/>
                    </a:solidFill>
                  </a:tcPr>
                </a:tc>
                <a:tc>
                  <a:txBody>
                    <a:bodyPr/>
                    <a:lstStyle/>
                    <a:p>
                      <a:pPr algn="r"/>
                      <a:r>
                        <a:rPr sz="1400" b="0">
                          <a:solidFill>
                            <a:srgbClr val="D8DED8"/>
                          </a:solidFill>
                          <a:latin typeface="Calibri"/>
                        </a:rPr>
                        <a:t>O(T*H^2) = O(12*64^2)</a:t>
                      </a:r>
                    </a:p>
                  </a:txBody>
                  <a:tcPr marL="91440" marR="73152" marT="18288" marB="18288" anchor="ctr">
                    <a:solidFill>
                      <a:srgbClr val="223522"/>
                    </a:solidFill>
                  </a:tcPr>
                </a:tc>
              </a:tr>
              <a:tr h="475488">
                <a:tc>
                  <a:txBody>
                    <a:bodyPr/>
                    <a:lstStyle/>
                    <a:p>
                      <a:pPr algn="l"/>
                      <a:r>
                        <a:rPr sz="1400" b="1">
                          <a:solidFill>
                            <a:srgbClr val="D8DED8"/>
                          </a:solidFill>
                          <a:latin typeface="Calibri"/>
                        </a:rPr>
                        <a:t>Inference</a:t>
                      </a:r>
                    </a:p>
                  </a:txBody>
                  <a:tcPr marL="91440" marR="73152" marT="18288" marB="18288" anchor="ctr">
                    <a:solidFill>
                      <a:srgbClr val="223522"/>
                    </a:solidFill>
                  </a:tcPr>
                </a:tc>
                <a:tc>
                  <a:txBody>
                    <a:bodyPr/>
                    <a:lstStyle/>
                    <a:p>
                      <a:pPr algn="r"/>
                      <a:r>
                        <a:rPr sz="1400" b="0">
                          <a:solidFill>
                            <a:srgbClr val="D8DED8"/>
                          </a:solidFill>
                          <a:latin typeface="Calibri"/>
                        </a:rPr>
                        <a:t>0.01 ms/sample (batch 200)</a:t>
                      </a:r>
                    </a:p>
                  </a:txBody>
                  <a:tcPr marL="91440" marR="73152" marT="18288" marB="18288" anchor="ctr">
                    <a:solidFill>
                      <a:srgbClr val="223522"/>
                    </a:solidFill>
                  </a:tcPr>
                </a:tc>
              </a:tr>
            </a:tbl>
          </a:graphicData>
        </a:graphic>
      </p:graphicFrame>
      <p:sp>
        <p:nvSpPr>
          <p:cNvPr id="6" name="TextBox 5"/>
          <p:cNvSpPr txBox="1"/>
          <p:nvPr/>
        </p:nvSpPr>
        <p:spPr>
          <a:xfrm>
            <a:off x="7040880" y="1481328"/>
            <a:ext cx="4572000" cy="274320"/>
          </a:xfrm>
          <a:prstGeom prst="rect">
            <a:avLst/>
          </a:prstGeom>
          <a:noFill/>
        </p:spPr>
        <p:txBody>
          <a:bodyPr wrap="square" lIns="0" rIns="0" tIns="0" bIns="0">
            <a:spAutoFit/>
          </a:bodyPr>
          <a:lstStyle/>
          <a:p>
            <a:pPr algn="l">
              <a:lnSpc>
                <a:spcPct val="100000"/>
              </a:lnSpc>
            </a:pPr>
            <a:r>
              <a:rPr sz="1100" b="1">
                <a:solidFill>
                  <a:srgbClr val="97BC62"/>
                </a:solidFill>
                <a:latin typeface="Calibri"/>
              </a:rPr>
              <a:t>WHY THIS MATTERS</a:t>
            </a:r>
          </a:p>
        </p:txBody>
      </p:sp>
      <p:sp>
        <p:nvSpPr>
          <p:cNvPr id="7" name="TextBox 6"/>
          <p:cNvSpPr txBox="1"/>
          <p:nvPr/>
        </p:nvSpPr>
        <p:spPr>
          <a:xfrm>
            <a:off x="7040880" y="1874519"/>
            <a:ext cx="4572000" cy="3840480"/>
          </a:xfrm>
          <a:prstGeom prst="rect">
            <a:avLst/>
          </a:prstGeom>
          <a:noFill/>
        </p:spPr>
        <p:txBody>
          <a:bodyPr wrap="square" lIns="0" rIns="0" tIns="0" bIns="0">
            <a:spAutoFit/>
          </a:bodyPr>
          <a:lstStyle/>
          <a:p>
            <a:pPr algn="l">
              <a:lnSpc>
                <a:spcPct val="130000"/>
              </a:lnSpc>
            </a:pPr>
            <a:r>
              <a:rPr sz="1500" b="0">
                <a:solidFill>
                  <a:srgbClr val="A8B4A8"/>
                </a:solidFill>
                <a:latin typeface="Calibri"/>
              </a:rPr>
              <a:t>At 16,033 parameters the model is small enough that a full state dict is 62.6 KB. That is what makes the federation cheap: the per-round cost is set by model size, not by data size.</a:t>
            </a:r>
          </a:p>
          <a:p>
            <a:pPr algn="l">
              <a:lnSpc>
                <a:spcPct val="130000"/>
              </a:lnSpc>
            </a:pPr>
            <a:r>
              <a:rPr sz="1500" b="0">
                <a:solidFill>
                  <a:srgbClr val="A8B4A8"/>
                </a:solidFill>
                <a:latin typeface="Calibri"/>
              </a:rPr>
              <a:t/>
            </a:r>
          </a:p>
          <a:p>
            <a:pPr algn="l">
              <a:lnSpc>
                <a:spcPct val="130000"/>
              </a:lnSpc>
            </a:pPr>
            <a:r>
              <a:rPr sz="1500" b="0">
                <a:solidFill>
                  <a:srgbClr val="A8B4A8"/>
                </a:solidFill>
                <a:latin typeface="Calibri"/>
              </a:rPr>
              <a:t>85% of the parameters sit in the GRU base. FedPer shares exactly that and keeps the 2,401-parameter head local, which is where its communication saving comes from.</a:t>
            </a:r>
          </a:p>
          <a:p>
            <a:pPr algn="l">
              <a:lnSpc>
                <a:spcPct val="130000"/>
              </a:lnSpc>
            </a:pPr>
            <a:r>
              <a:rPr sz="1500" b="0">
                <a:solidFill>
                  <a:srgbClr val="A8B4A8"/>
                </a:solidFill>
                <a:latin typeface="Calibri"/>
              </a:rPr>
              <a:t/>
            </a:r>
          </a:p>
          <a:p>
            <a:pPr algn="l">
              <a:lnSpc>
                <a:spcPct val="130000"/>
              </a:lnSpc>
            </a:pPr>
            <a:r>
              <a:rPr sz="1500" b="0">
                <a:solidFill>
                  <a:srgbClr val="A8B4A8"/>
                </a:solidFill>
                <a:latin typeface="Calibri"/>
              </a:rPr>
              <a:t>Inference at 0.01 ms/sample means a whole state can be scored in well under a second on CPU.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B1C"/>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223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82880"/>
            <a:ext cx="10058400" cy="237744"/>
          </a:xfrm>
          <a:prstGeom prst="rect">
            <a:avLst/>
          </a:prstGeom>
          <a:noFill/>
        </p:spPr>
        <p:txBody>
          <a:bodyPr wrap="square" lIns="0" rIns="0" tIns="0" bIns="0">
            <a:spAutoFit/>
          </a:bodyPr>
          <a:lstStyle/>
          <a:p>
            <a:pPr algn="l">
              <a:lnSpc>
                <a:spcPct val="100000"/>
              </a:lnSpc>
            </a:pPr>
            <a:r>
              <a:rPr sz="1100" b="1">
                <a:solidFill>
                  <a:srgbClr val="97BC62"/>
                </a:solidFill>
                <a:latin typeface="Calibri"/>
              </a:rPr>
              <a:t>R2 · SYSTEM PERFORMANCE</a:t>
            </a:r>
          </a:p>
        </p:txBody>
      </p:sp>
      <p:sp>
        <p:nvSpPr>
          <p:cNvPr id="4" name="TextBox 3"/>
          <p:cNvSpPr txBox="1"/>
          <p:nvPr/>
        </p:nvSpPr>
        <p:spPr>
          <a:xfrm>
            <a:off x="658368" y="420624"/>
            <a:ext cx="10881360" cy="457200"/>
          </a:xfrm>
          <a:prstGeom prst="rect">
            <a:avLst/>
          </a:prstGeom>
          <a:noFill/>
        </p:spPr>
        <p:txBody>
          <a:bodyPr wrap="square" lIns="0" rIns="0" tIns="0" bIns="0">
            <a:spAutoFit/>
          </a:bodyPr>
          <a:lstStyle/>
          <a:p>
            <a:pPr algn="l">
              <a:lnSpc>
                <a:spcPct val="100000"/>
              </a:lnSpc>
            </a:pPr>
            <a:r>
              <a:rPr sz="2500" b="1">
                <a:solidFill>
                  <a:srgbClr val="D8DED8"/>
                </a:solidFill>
                <a:latin typeface="Cambria"/>
              </a:rPr>
              <a:t>Communication cost per round</a:t>
            </a:r>
          </a:p>
        </p:txBody>
      </p:sp>
      <p:graphicFrame>
        <p:nvGraphicFramePr>
          <p:cNvPr id="5" name="Table 4"/>
          <p:cNvGraphicFramePr>
            <a:graphicFrameLocks noGrp="1"/>
          </p:cNvGraphicFramePr>
          <p:nvPr/>
        </p:nvGraphicFramePr>
        <p:xfrm>
          <a:off x="658368" y="1371600"/>
          <a:ext cx="10874957" cy="2011680"/>
        </p:xfrm>
        <a:graphic>
          <a:graphicData uri="http://schemas.openxmlformats.org/drawingml/2006/table">
            <a:tbl>
              <a:tblPr>
                <a:tableStyleId>{5C22544A-7EE6-4342-B048-85BDC9FD1C3A}</a:tableStyleId>
              </a:tblPr>
              <a:tblGrid>
                <a:gridCol w="2667442"/>
                <a:gridCol w="1641503"/>
                <a:gridCol w="2462254"/>
                <a:gridCol w="2051879"/>
                <a:gridCol w="2051879"/>
              </a:tblGrid>
              <a:tr h="502920">
                <a:tc>
                  <a:txBody>
                    <a:bodyPr/>
                    <a:lstStyle/>
                    <a:p>
                      <a:pPr algn="l"/>
                      <a:r>
                        <a:rPr sz="1450" b="1">
                          <a:solidFill>
                            <a:srgbClr val="D8DED8"/>
                          </a:solidFill>
                          <a:latin typeface="Calibri"/>
                        </a:rPr>
                        <a:t>Algorithm</a:t>
                      </a:r>
                    </a:p>
                  </a:txBody>
                  <a:tcPr marL="91440" marR="73152" marT="18288" marB="18288" anchor="ctr">
                    <a:solidFill>
                      <a:srgbClr val="2C5F2D"/>
                    </a:solidFill>
                  </a:tcPr>
                </a:tc>
                <a:tc>
                  <a:txBody>
                    <a:bodyPr/>
                    <a:lstStyle/>
                    <a:p>
                      <a:pPr algn="r"/>
                      <a:r>
                        <a:rPr sz="1450" b="1">
                          <a:solidFill>
                            <a:srgbClr val="D8DED8"/>
                          </a:solidFill>
                          <a:latin typeface="Calibri"/>
                        </a:rPr>
                        <a:t>Rounds</a:t>
                      </a:r>
                    </a:p>
                  </a:txBody>
                  <a:tcPr marL="91440" marR="73152" marT="18288" marB="18288" anchor="ctr">
                    <a:solidFill>
                      <a:srgbClr val="2C5F2D"/>
                    </a:solidFill>
                  </a:tcPr>
                </a:tc>
                <a:tc>
                  <a:txBody>
                    <a:bodyPr/>
                    <a:lstStyle/>
                    <a:p>
                      <a:pPr algn="r"/>
                      <a:r>
                        <a:rPr sz="1450" b="1">
                          <a:solidFill>
                            <a:srgbClr val="D8DED8"/>
                          </a:solidFill>
                          <a:latin typeface="Calibri"/>
                        </a:rPr>
                        <a:t>KB / round</a:t>
                      </a:r>
                    </a:p>
                  </a:txBody>
                  <a:tcPr marL="91440" marR="73152" marT="18288" marB="18288" anchor="ctr">
                    <a:solidFill>
                      <a:srgbClr val="2C5F2D"/>
                    </a:solidFill>
                  </a:tcPr>
                </a:tc>
                <a:tc>
                  <a:txBody>
                    <a:bodyPr/>
                    <a:lstStyle/>
                    <a:p>
                      <a:pPr algn="r"/>
                      <a:r>
                        <a:rPr sz="1450" b="1">
                          <a:solidFill>
                            <a:srgbClr val="D8DED8"/>
                          </a:solidFill>
                          <a:latin typeface="Calibri"/>
                        </a:rPr>
                        <a:t>Total MB</a:t>
                      </a:r>
                    </a:p>
                  </a:txBody>
                  <a:tcPr marL="91440" marR="73152" marT="18288" marB="18288" anchor="ctr">
                    <a:solidFill>
                      <a:srgbClr val="2C5F2D"/>
                    </a:solidFill>
                  </a:tcPr>
                </a:tc>
                <a:tc>
                  <a:txBody>
                    <a:bodyPr/>
                    <a:lstStyle/>
                    <a:p>
                      <a:pPr algn="r"/>
                      <a:r>
                        <a:rPr sz="1450" b="1">
                          <a:solidFill>
                            <a:srgbClr val="D8DED8"/>
                          </a:solidFill>
                          <a:latin typeface="Calibri"/>
                        </a:rPr>
                        <a:t>s / round</a:t>
                      </a:r>
                    </a:p>
                  </a:txBody>
                  <a:tcPr marL="91440" marR="73152" marT="18288" marB="18288" anchor="ctr">
                    <a:solidFill>
                      <a:srgbClr val="2C5F2D"/>
                    </a:solidFill>
                  </a:tcPr>
                </a:tc>
              </a:tr>
              <a:tr h="502920">
                <a:tc>
                  <a:txBody>
                    <a:bodyPr/>
                    <a:lstStyle/>
                    <a:p>
                      <a:pPr algn="l"/>
                      <a:r>
                        <a:rPr sz="1450" b="1">
                          <a:solidFill>
                            <a:srgbClr val="D8DED8"/>
                          </a:solidFill>
                          <a:latin typeface="Calibri"/>
                        </a:rPr>
                        <a:t>FedAvg</a:t>
                      </a:r>
                    </a:p>
                  </a:txBody>
                  <a:tcPr marL="91440" marR="73152" marT="18288" marB="18288" anchor="ctr">
                    <a:solidFill>
                      <a:srgbClr val="223522"/>
                    </a:solidFill>
                  </a:tcPr>
                </a:tc>
                <a:tc>
                  <a:txBody>
                    <a:bodyPr/>
                    <a:lstStyle/>
                    <a:p>
                      <a:pPr algn="r"/>
                      <a:r>
                        <a:rPr sz="1450" b="0">
                          <a:solidFill>
                            <a:srgbClr val="D8DED8"/>
                          </a:solidFill>
                          <a:latin typeface="Calibri"/>
                        </a:rPr>
                        <a:t>29</a:t>
                      </a:r>
                    </a:p>
                  </a:txBody>
                  <a:tcPr marL="91440" marR="73152" marT="18288" marB="18288" anchor="ctr">
                    <a:solidFill>
                      <a:srgbClr val="223522"/>
                    </a:solidFill>
                  </a:tcPr>
                </a:tc>
                <a:tc>
                  <a:txBody>
                    <a:bodyPr/>
                    <a:lstStyle/>
                    <a:p>
                      <a:pPr algn="r"/>
                      <a:r>
                        <a:rPr sz="1450" b="0">
                          <a:solidFill>
                            <a:srgbClr val="D8DED8"/>
                          </a:solidFill>
                          <a:latin typeface="Calibri"/>
                        </a:rPr>
                        <a:t>1,189.9</a:t>
                      </a:r>
                    </a:p>
                  </a:txBody>
                  <a:tcPr marL="91440" marR="73152" marT="18288" marB="18288" anchor="ctr">
                    <a:solidFill>
                      <a:srgbClr val="223522"/>
                    </a:solidFill>
                  </a:tcPr>
                </a:tc>
                <a:tc>
                  <a:txBody>
                    <a:bodyPr/>
                    <a:lstStyle/>
                    <a:p>
                      <a:pPr algn="r"/>
                      <a:r>
                        <a:rPr sz="1450" b="0">
                          <a:solidFill>
                            <a:srgbClr val="D8DED8"/>
                          </a:solidFill>
                          <a:latin typeface="Calibri"/>
                        </a:rPr>
                        <a:t>33.7</a:t>
                      </a:r>
                    </a:p>
                  </a:txBody>
                  <a:tcPr marL="91440" marR="73152" marT="18288" marB="18288" anchor="ctr">
                    <a:solidFill>
                      <a:srgbClr val="223522"/>
                    </a:solidFill>
                  </a:tcPr>
                </a:tc>
                <a:tc>
                  <a:txBody>
                    <a:bodyPr/>
                    <a:lstStyle/>
                    <a:p>
                      <a:pPr algn="r"/>
                      <a:r>
                        <a:rPr sz="1450" b="0">
                          <a:solidFill>
                            <a:srgbClr val="D8DED8"/>
                          </a:solidFill>
                          <a:latin typeface="Calibri"/>
                        </a:rPr>
                        <a:t>2.07</a:t>
                      </a:r>
                    </a:p>
                  </a:txBody>
                  <a:tcPr marL="91440" marR="73152" marT="18288" marB="18288" anchor="ctr">
                    <a:solidFill>
                      <a:srgbClr val="223522"/>
                    </a:solidFill>
                  </a:tcPr>
                </a:tc>
              </a:tr>
              <a:tr h="502920">
                <a:tc>
                  <a:txBody>
                    <a:bodyPr/>
                    <a:lstStyle/>
                    <a:p>
                      <a:pPr algn="l"/>
                      <a:r>
                        <a:rPr sz="1450" b="1">
                          <a:solidFill>
                            <a:srgbClr val="D8DED8"/>
                          </a:solidFill>
                          <a:latin typeface="Calibri"/>
                        </a:rPr>
                        <a:t>FedProx</a:t>
                      </a:r>
                    </a:p>
                  </a:txBody>
                  <a:tcPr marL="91440" marR="73152" marT="18288" marB="18288" anchor="ctr">
                    <a:solidFill>
                      <a:srgbClr val="223522"/>
                    </a:solidFill>
                  </a:tcPr>
                </a:tc>
                <a:tc>
                  <a:txBody>
                    <a:bodyPr/>
                    <a:lstStyle/>
                    <a:p>
                      <a:pPr algn="r"/>
                      <a:r>
                        <a:rPr sz="1450" b="0">
                          <a:solidFill>
                            <a:srgbClr val="D8DED8"/>
                          </a:solidFill>
                          <a:latin typeface="Calibri"/>
                        </a:rPr>
                        <a:t>26</a:t>
                      </a:r>
                    </a:p>
                  </a:txBody>
                  <a:tcPr marL="91440" marR="73152" marT="18288" marB="18288" anchor="ctr">
                    <a:solidFill>
                      <a:srgbClr val="223522"/>
                    </a:solidFill>
                  </a:tcPr>
                </a:tc>
                <a:tc>
                  <a:txBody>
                    <a:bodyPr/>
                    <a:lstStyle/>
                    <a:p>
                      <a:pPr algn="r"/>
                      <a:r>
                        <a:rPr sz="1450" b="0">
                          <a:solidFill>
                            <a:srgbClr val="D8DED8"/>
                          </a:solidFill>
                          <a:latin typeface="Calibri"/>
                        </a:rPr>
                        <a:t>1,189.9</a:t>
                      </a:r>
                    </a:p>
                  </a:txBody>
                  <a:tcPr marL="91440" marR="73152" marT="18288" marB="18288" anchor="ctr">
                    <a:solidFill>
                      <a:srgbClr val="223522"/>
                    </a:solidFill>
                  </a:tcPr>
                </a:tc>
                <a:tc>
                  <a:txBody>
                    <a:bodyPr/>
                    <a:lstStyle/>
                    <a:p>
                      <a:pPr algn="r"/>
                      <a:r>
                        <a:rPr sz="1450" b="0">
                          <a:solidFill>
                            <a:srgbClr val="D8DED8"/>
                          </a:solidFill>
                          <a:latin typeface="Calibri"/>
                        </a:rPr>
                        <a:t>30.2</a:t>
                      </a:r>
                    </a:p>
                  </a:txBody>
                  <a:tcPr marL="91440" marR="73152" marT="18288" marB="18288" anchor="ctr">
                    <a:solidFill>
                      <a:srgbClr val="223522"/>
                    </a:solidFill>
                  </a:tcPr>
                </a:tc>
                <a:tc>
                  <a:txBody>
                    <a:bodyPr/>
                    <a:lstStyle/>
                    <a:p>
                      <a:pPr algn="r"/>
                      <a:r>
                        <a:rPr sz="1450" b="0">
                          <a:solidFill>
                            <a:srgbClr val="D8DED8"/>
                          </a:solidFill>
                          <a:latin typeface="Calibri"/>
                        </a:rPr>
                        <a:t>2.06</a:t>
                      </a:r>
                    </a:p>
                  </a:txBody>
                  <a:tcPr marL="91440" marR="73152" marT="18288" marB="18288" anchor="ctr">
                    <a:solidFill>
                      <a:srgbClr val="223522"/>
                    </a:solidFill>
                  </a:tcPr>
                </a:tc>
              </a:tr>
              <a:tr h="502920">
                <a:tc>
                  <a:txBody>
                    <a:bodyPr/>
                    <a:lstStyle/>
                    <a:p>
                      <a:pPr algn="l"/>
                      <a:r>
                        <a:rPr sz="1450" b="1">
                          <a:solidFill>
                            <a:srgbClr val="D8DED8"/>
                          </a:solidFill>
                          <a:latin typeface="Calibri"/>
                        </a:rPr>
                        <a:t>FedPer</a:t>
                      </a:r>
                    </a:p>
                  </a:txBody>
                  <a:tcPr marL="91440" marR="73152" marT="18288" marB="18288" anchor="ctr">
                    <a:solidFill>
                      <a:srgbClr val="223522"/>
                    </a:solidFill>
                  </a:tcPr>
                </a:tc>
                <a:tc>
                  <a:txBody>
                    <a:bodyPr/>
                    <a:lstStyle/>
                    <a:p>
                      <a:pPr algn="r"/>
                      <a:r>
                        <a:rPr sz="1450" b="0">
                          <a:solidFill>
                            <a:srgbClr val="D8DED8"/>
                          </a:solidFill>
                          <a:latin typeface="Calibri"/>
                        </a:rPr>
                        <a:t>57</a:t>
                      </a:r>
                    </a:p>
                  </a:txBody>
                  <a:tcPr marL="91440" marR="73152" marT="18288" marB="18288" anchor="ctr">
                    <a:solidFill>
                      <a:srgbClr val="223522"/>
                    </a:solidFill>
                  </a:tcPr>
                </a:tc>
                <a:tc>
                  <a:txBody>
                    <a:bodyPr/>
                    <a:lstStyle/>
                    <a:p>
                      <a:pPr algn="r"/>
                      <a:r>
                        <a:rPr sz="1450" b="0">
                          <a:solidFill>
                            <a:srgbClr val="D8DED8"/>
                          </a:solidFill>
                          <a:latin typeface="Calibri"/>
                        </a:rPr>
                        <a:t>1,011.8</a:t>
                      </a:r>
                    </a:p>
                  </a:txBody>
                  <a:tcPr marL="91440" marR="73152" marT="18288" marB="18288" anchor="ctr">
                    <a:solidFill>
                      <a:srgbClr val="223522"/>
                    </a:solidFill>
                  </a:tcPr>
                </a:tc>
                <a:tc>
                  <a:txBody>
                    <a:bodyPr/>
                    <a:lstStyle/>
                    <a:p>
                      <a:pPr algn="r"/>
                      <a:r>
                        <a:rPr sz="1450" b="0">
                          <a:solidFill>
                            <a:srgbClr val="D8DED8"/>
                          </a:solidFill>
                          <a:latin typeface="Calibri"/>
                        </a:rPr>
                        <a:t>56.3</a:t>
                      </a:r>
                    </a:p>
                  </a:txBody>
                  <a:tcPr marL="91440" marR="73152" marT="18288" marB="18288" anchor="ctr">
                    <a:solidFill>
                      <a:srgbClr val="223522"/>
                    </a:solidFill>
                  </a:tcPr>
                </a:tc>
                <a:tc>
                  <a:txBody>
                    <a:bodyPr/>
                    <a:lstStyle/>
                    <a:p>
                      <a:pPr algn="r"/>
                      <a:r>
                        <a:rPr sz="1450" b="0">
                          <a:solidFill>
                            <a:srgbClr val="D8DED8"/>
                          </a:solidFill>
                          <a:latin typeface="Calibri"/>
                        </a:rPr>
                        <a:t>1.90</a:t>
                      </a:r>
                    </a:p>
                  </a:txBody>
                  <a:tcPr marL="91440" marR="73152" marT="18288" marB="18288" anchor="ctr">
                    <a:solidFill>
                      <a:srgbClr val="223522"/>
                    </a:solidFill>
                  </a:tcPr>
                </a:tc>
              </a:tr>
            </a:tbl>
          </a:graphicData>
        </a:graphic>
      </p:graphicFrame>
      <p:sp>
        <p:nvSpPr>
          <p:cNvPr id="6" name="TextBox 5"/>
          <p:cNvSpPr txBox="1"/>
          <p:nvPr/>
        </p:nvSpPr>
        <p:spPr>
          <a:xfrm>
            <a:off x="658368" y="3794760"/>
            <a:ext cx="5120640" cy="457200"/>
          </a:xfrm>
          <a:prstGeom prst="rect">
            <a:avLst/>
          </a:prstGeom>
          <a:noFill/>
        </p:spPr>
        <p:txBody>
          <a:bodyPr wrap="square" lIns="0" rIns="0" tIns="0" bIns="0">
            <a:spAutoFit/>
          </a:bodyPr>
          <a:lstStyle/>
          <a:p>
            <a:pPr algn="l">
              <a:lnSpc>
                <a:spcPct val="100000"/>
              </a:lnSpc>
            </a:pPr>
            <a:r>
              <a:rPr sz="3100" b="1">
                <a:solidFill>
                  <a:srgbClr val="97BC62"/>
                </a:solidFill>
                <a:latin typeface="Cambria"/>
              </a:rPr>
              <a:t>15.0% less per round</a:t>
            </a:r>
          </a:p>
        </p:txBody>
      </p:sp>
      <p:sp>
        <p:nvSpPr>
          <p:cNvPr id="7" name="TextBox 6"/>
          <p:cNvSpPr txBox="1"/>
          <p:nvPr/>
        </p:nvSpPr>
        <p:spPr>
          <a:xfrm>
            <a:off x="658368" y="4370832"/>
            <a:ext cx="5120640" cy="822960"/>
          </a:xfrm>
          <a:prstGeom prst="rect">
            <a:avLst/>
          </a:prstGeom>
          <a:noFill/>
        </p:spPr>
        <p:txBody>
          <a:bodyPr wrap="square" lIns="0" rIns="0" tIns="0" bIns="0">
            <a:spAutoFit/>
          </a:bodyPr>
          <a:lstStyle/>
          <a:p>
            <a:pPr algn="l">
              <a:lnSpc>
                <a:spcPct val="120000"/>
              </a:lnSpc>
            </a:pPr>
            <a:r>
              <a:rPr sz="1500" b="0">
                <a:solidFill>
                  <a:srgbClr val="A8B4A8"/>
                </a:solidFill>
                <a:latin typeface="Calibri"/>
              </a:rPr>
              <a:t>FedPer against FedAvg, because the head</a:t>
            </a:r>
          </a:p>
          <a:p>
            <a:pPr algn="l">
              <a:lnSpc>
                <a:spcPct val="120000"/>
              </a:lnSpc>
            </a:pPr>
            <a:r>
              <a:rPr sz="1500" b="0">
                <a:solidFill>
                  <a:srgbClr val="A8B4A8"/>
                </a:solidFill>
                <a:latin typeface="Calibri"/>
              </a:rPr>
              <a:t>never leaves the client.</a:t>
            </a:r>
          </a:p>
        </p:txBody>
      </p:sp>
      <p:sp>
        <p:nvSpPr>
          <p:cNvPr id="8" name="TextBox 7"/>
          <p:cNvSpPr txBox="1"/>
          <p:nvPr/>
        </p:nvSpPr>
        <p:spPr>
          <a:xfrm>
            <a:off x="6309360" y="3749039"/>
            <a:ext cx="5212080" cy="274320"/>
          </a:xfrm>
          <a:prstGeom prst="rect">
            <a:avLst/>
          </a:prstGeom>
          <a:noFill/>
        </p:spPr>
        <p:txBody>
          <a:bodyPr wrap="square" lIns="0" rIns="0" tIns="0" bIns="0">
            <a:spAutoFit/>
          </a:bodyPr>
          <a:lstStyle/>
          <a:p>
            <a:pPr algn="l">
              <a:lnSpc>
                <a:spcPct val="100000"/>
              </a:lnSpc>
            </a:pPr>
            <a:r>
              <a:rPr sz="1150" b="1">
                <a:solidFill>
                  <a:srgbClr val="B85042"/>
                </a:solidFill>
                <a:latin typeface="Calibri"/>
              </a:rPr>
              <a:t>THE HONEST READING</a:t>
            </a:r>
          </a:p>
        </p:txBody>
      </p:sp>
      <p:sp>
        <p:nvSpPr>
          <p:cNvPr id="9" name="TextBox 8"/>
          <p:cNvSpPr txBox="1"/>
          <p:nvPr/>
        </p:nvSpPr>
        <p:spPr>
          <a:xfrm>
            <a:off x="6309360" y="4114800"/>
            <a:ext cx="5212080" cy="2194560"/>
          </a:xfrm>
          <a:prstGeom prst="rect">
            <a:avLst/>
          </a:prstGeom>
          <a:noFill/>
        </p:spPr>
        <p:txBody>
          <a:bodyPr wrap="square" lIns="0" rIns="0" tIns="0" bIns="0">
            <a:spAutoFit/>
          </a:bodyPr>
          <a:lstStyle/>
          <a:p>
            <a:pPr algn="l">
              <a:lnSpc>
                <a:spcPct val="128000"/>
              </a:lnSpc>
            </a:pPr>
            <a:r>
              <a:rPr sz="1500" b="0">
                <a:solidFill>
                  <a:srgbClr val="A8B4A8"/>
                </a:solidFill>
                <a:latin typeface="Calibri"/>
              </a:rPr>
              <a:t>Per round FedPer is cheaper. In total it is not: it ran 57 rounds against FedAvg's 29, so it moved 56.3 MB against 33.7 MB overall. The saving is real per-round and disappears once convergence is counted. A deck that quoted only the 15% would be misleading.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B1C"/>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223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82880"/>
            <a:ext cx="10058400" cy="237744"/>
          </a:xfrm>
          <a:prstGeom prst="rect">
            <a:avLst/>
          </a:prstGeom>
          <a:noFill/>
        </p:spPr>
        <p:txBody>
          <a:bodyPr wrap="square" lIns="0" rIns="0" tIns="0" bIns="0">
            <a:spAutoFit/>
          </a:bodyPr>
          <a:lstStyle/>
          <a:p>
            <a:pPr algn="l">
              <a:lnSpc>
                <a:spcPct val="100000"/>
              </a:lnSpc>
            </a:pPr>
            <a:r>
              <a:rPr sz="1100" b="1">
                <a:solidFill>
                  <a:srgbClr val="97BC62"/>
                </a:solidFill>
                <a:latin typeface="Calibri"/>
              </a:rPr>
              <a:t>R2 · SYSTEM PERFORMANCE</a:t>
            </a:r>
          </a:p>
        </p:txBody>
      </p:sp>
      <p:sp>
        <p:nvSpPr>
          <p:cNvPr id="4" name="TextBox 3"/>
          <p:cNvSpPr txBox="1"/>
          <p:nvPr/>
        </p:nvSpPr>
        <p:spPr>
          <a:xfrm>
            <a:off x="658368" y="420624"/>
            <a:ext cx="10881360" cy="457200"/>
          </a:xfrm>
          <a:prstGeom prst="rect">
            <a:avLst/>
          </a:prstGeom>
          <a:noFill/>
        </p:spPr>
        <p:txBody>
          <a:bodyPr wrap="square" lIns="0" rIns="0" tIns="0" bIns="0">
            <a:spAutoFit/>
          </a:bodyPr>
          <a:lstStyle/>
          <a:p>
            <a:pPr algn="l">
              <a:lnSpc>
                <a:spcPct val="100000"/>
              </a:lnSpc>
            </a:pPr>
            <a:r>
              <a:rPr sz="2500" b="1">
                <a:solidFill>
                  <a:srgbClr val="D8DED8"/>
                </a:solidFill>
                <a:latin typeface="Cambria"/>
              </a:rPr>
              <a:t>FedProx proximal term</a:t>
            </a:r>
          </a:p>
        </p:txBody>
      </p:sp>
      <p:graphicFrame>
        <p:nvGraphicFramePr>
          <p:cNvPr id="5" name="Table 4"/>
          <p:cNvGraphicFramePr>
            <a:graphicFrameLocks noGrp="1"/>
          </p:cNvGraphicFramePr>
          <p:nvPr/>
        </p:nvGraphicFramePr>
        <p:xfrm>
          <a:off x="658368" y="1371600"/>
          <a:ext cx="10874955" cy="3072384"/>
        </p:xfrm>
        <a:graphic>
          <a:graphicData uri="http://schemas.openxmlformats.org/drawingml/2006/table">
            <a:tbl>
              <a:tblPr>
                <a:tableStyleId>{5C22544A-7EE6-4342-B048-85BDC9FD1C3A}</a:tableStyleId>
              </a:tblPr>
              <a:tblGrid>
                <a:gridCol w="1218745"/>
                <a:gridCol w="1874992"/>
                <a:gridCol w="1874992"/>
                <a:gridCol w="2249991"/>
                <a:gridCol w="2249991"/>
                <a:gridCol w="1406244"/>
              </a:tblGrid>
              <a:tr h="512064">
                <a:tc>
                  <a:txBody>
                    <a:bodyPr/>
                    <a:lstStyle/>
                    <a:p>
                      <a:pPr algn="l"/>
                      <a:r>
                        <a:rPr sz="1400" b="1">
                          <a:solidFill>
                            <a:srgbClr val="D8DED8"/>
                          </a:solidFill>
                          <a:latin typeface="Calibri"/>
                        </a:rPr>
                        <a:t>μ</a:t>
                      </a:r>
                    </a:p>
                  </a:txBody>
                  <a:tcPr marL="91440" marR="73152" marT="18288" marB="18288" anchor="ctr">
                    <a:solidFill>
                      <a:srgbClr val="2C5F2D"/>
                    </a:solidFill>
                  </a:tcPr>
                </a:tc>
                <a:tc>
                  <a:txBody>
                    <a:bodyPr/>
                    <a:lstStyle/>
                    <a:p>
                      <a:pPr algn="r"/>
                      <a:r>
                        <a:rPr sz="1400" b="1">
                          <a:solidFill>
                            <a:srgbClr val="D8DED8"/>
                          </a:solidFill>
                          <a:latin typeface="Calibri"/>
                        </a:rPr>
                        <a:t>Algorithm</a:t>
                      </a:r>
                    </a:p>
                  </a:txBody>
                  <a:tcPr marL="91440" marR="73152" marT="18288" marB="18288" anchor="ctr">
                    <a:solidFill>
                      <a:srgbClr val="2C5F2D"/>
                    </a:solidFill>
                  </a:tcPr>
                </a:tc>
                <a:tc>
                  <a:txBody>
                    <a:bodyPr/>
                    <a:lstStyle/>
                    <a:p>
                      <a:pPr algn="r"/>
                      <a:r>
                        <a:rPr sz="1400" b="1">
                          <a:solidFill>
                            <a:srgbClr val="D8DED8"/>
                          </a:solidFill>
                          <a:latin typeface="Calibri"/>
                        </a:rPr>
                        <a:t>R²</a:t>
                      </a:r>
                    </a:p>
                  </a:txBody>
                  <a:tcPr marL="91440" marR="73152" marT="18288" marB="18288" anchor="ctr">
                    <a:solidFill>
                      <a:srgbClr val="2C5F2D"/>
                    </a:solidFill>
                  </a:tcPr>
                </a:tc>
                <a:tc>
                  <a:txBody>
                    <a:bodyPr/>
                    <a:lstStyle/>
                    <a:p>
                      <a:pPr algn="r"/>
                      <a:r>
                        <a:rPr sz="1400" b="1">
                          <a:solidFill>
                            <a:srgbClr val="D8DED8"/>
                          </a:solidFill>
                          <a:latin typeface="Calibri"/>
                        </a:rPr>
                        <a:t>Skill vs trend</a:t>
                      </a:r>
                    </a:p>
                  </a:txBody>
                  <a:tcPr marL="91440" marR="73152" marT="18288" marB="18288" anchor="ctr">
                    <a:solidFill>
                      <a:srgbClr val="2C5F2D"/>
                    </a:solidFill>
                  </a:tcPr>
                </a:tc>
                <a:tc>
                  <a:txBody>
                    <a:bodyPr/>
                    <a:lstStyle/>
                    <a:p>
                      <a:pPr algn="r"/>
                      <a:r>
                        <a:rPr sz="1400" b="1">
                          <a:solidFill>
                            <a:srgbClr val="D8DED8"/>
                          </a:solidFill>
                          <a:latin typeface="Calibri"/>
                        </a:rPr>
                        <a:t>L2 vs FedAvg</a:t>
                      </a:r>
                    </a:p>
                  </a:txBody>
                  <a:tcPr marL="91440" marR="73152" marT="18288" marB="18288" anchor="ctr">
                    <a:solidFill>
                      <a:srgbClr val="2C5F2D"/>
                    </a:solidFill>
                  </a:tcPr>
                </a:tc>
                <a:tc>
                  <a:txBody>
                    <a:bodyPr/>
                    <a:lstStyle/>
                    <a:p>
                      <a:pPr algn="r"/>
                      <a:r>
                        <a:rPr sz="1400" b="1">
                          <a:solidFill>
                            <a:srgbClr val="D8DED8"/>
                          </a:solidFill>
                          <a:latin typeface="Calibri"/>
                        </a:rPr>
                        <a:t>Rounds</a:t>
                      </a:r>
                    </a:p>
                  </a:txBody>
                  <a:tcPr marL="91440" marR="73152" marT="18288" marB="18288" anchor="ctr">
                    <a:solidFill>
                      <a:srgbClr val="2C5F2D"/>
                    </a:solidFill>
                  </a:tcPr>
                </a:tc>
              </a:tr>
              <a:tr h="512064">
                <a:tc>
                  <a:txBody>
                    <a:bodyPr/>
                    <a:lstStyle/>
                    <a:p>
                      <a:pPr algn="l"/>
                      <a:r>
                        <a:rPr sz="1400" b="1">
                          <a:solidFill>
                            <a:srgbClr val="D8DED8"/>
                          </a:solidFill>
                          <a:latin typeface="Calibri"/>
                        </a:rPr>
                        <a:t>0</a:t>
                      </a:r>
                    </a:p>
                  </a:txBody>
                  <a:tcPr marL="91440" marR="73152" marT="18288" marB="18288" anchor="ctr">
                    <a:solidFill>
                      <a:srgbClr val="223522"/>
                    </a:solidFill>
                  </a:tcPr>
                </a:tc>
                <a:tc>
                  <a:txBody>
                    <a:bodyPr/>
                    <a:lstStyle/>
                    <a:p>
                      <a:pPr algn="r"/>
                      <a:r>
                        <a:rPr sz="1400" b="0">
                          <a:solidFill>
                            <a:srgbClr val="D8DED8"/>
                          </a:solidFill>
                          <a:latin typeface="Calibri"/>
                        </a:rPr>
                        <a:t>FedAvg</a:t>
                      </a:r>
                    </a:p>
                  </a:txBody>
                  <a:tcPr marL="91440" marR="73152" marT="18288" marB="18288" anchor="ctr">
                    <a:solidFill>
                      <a:srgbClr val="223522"/>
                    </a:solidFill>
                  </a:tcPr>
                </a:tc>
                <a:tc>
                  <a:txBody>
                    <a:bodyPr/>
                    <a:lstStyle/>
                    <a:p>
                      <a:pPr algn="r"/>
                      <a:r>
                        <a:rPr sz="1400" b="0">
                          <a:solidFill>
                            <a:srgbClr val="D8DED8"/>
                          </a:solidFill>
                          <a:latin typeface="Calibri"/>
                        </a:rPr>
                        <a:t>0.3019</a:t>
                      </a:r>
                    </a:p>
                  </a:txBody>
                  <a:tcPr marL="91440" marR="73152" marT="18288" marB="18288" anchor="ctr">
                    <a:solidFill>
                      <a:srgbClr val="223522"/>
                    </a:solidFill>
                  </a:tcPr>
                </a:tc>
                <a:tc>
                  <a:txBody>
                    <a:bodyPr/>
                    <a:lstStyle/>
                    <a:p>
                      <a:pPr algn="r"/>
                      <a:r>
                        <a:rPr sz="1400" b="0">
                          <a:solidFill>
                            <a:srgbClr val="D8DED8"/>
                          </a:solidFill>
                          <a:latin typeface="Calibri"/>
                        </a:rPr>
                        <a:t>-0.0918</a:t>
                      </a:r>
                    </a:p>
                  </a:txBody>
                  <a:tcPr marL="91440" marR="73152" marT="18288" marB="18288" anchor="ctr">
                    <a:solidFill>
                      <a:srgbClr val="223522"/>
                    </a:solidFill>
                  </a:tcPr>
                </a:tc>
                <a:tc>
                  <a:txBody>
                    <a:bodyPr/>
                    <a:lstStyle/>
                    <a:p>
                      <a:pPr algn="r"/>
                      <a:r>
                        <a:rPr sz="1400" b="0">
                          <a:solidFill>
                            <a:srgbClr val="D8DED8"/>
                          </a:solidFill>
                          <a:latin typeface="Calibri"/>
                        </a:rPr>
                        <a:t>0.000</a:t>
                      </a:r>
                    </a:p>
                  </a:txBody>
                  <a:tcPr marL="91440" marR="73152" marT="18288" marB="18288" anchor="ctr">
                    <a:solidFill>
                      <a:srgbClr val="223522"/>
                    </a:solidFill>
                  </a:tcPr>
                </a:tc>
                <a:tc>
                  <a:txBody>
                    <a:bodyPr/>
                    <a:lstStyle/>
                    <a:p>
                      <a:pPr algn="r"/>
                      <a:r>
                        <a:rPr sz="1400" b="0">
                          <a:solidFill>
                            <a:srgbClr val="D8DED8"/>
                          </a:solidFill>
                          <a:latin typeface="Calibri"/>
                        </a:rPr>
                        <a:t>26</a:t>
                      </a:r>
                    </a:p>
                  </a:txBody>
                  <a:tcPr marL="91440" marR="73152" marT="18288" marB="18288" anchor="ctr">
                    <a:solidFill>
                      <a:srgbClr val="223522"/>
                    </a:solidFill>
                  </a:tcPr>
                </a:tc>
              </a:tr>
              <a:tr h="512064">
                <a:tc>
                  <a:txBody>
                    <a:bodyPr/>
                    <a:lstStyle/>
                    <a:p>
                      <a:pPr algn="l"/>
                      <a:r>
                        <a:rPr sz="1400" b="1">
                          <a:solidFill>
                            <a:srgbClr val="D8DED8"/>
                          </a:solidFill>
                          <a:latin typeface="Calibri"/>
                        </a:rPr>
                        <a:t>0.001</a:t>
                      </a:r>
                    </a:p>
                  </a:txBody>
                  <a:tcPr marL="91440" marR="73152" marT="18288" marB="18288" anchor="ctr">
                    <a:solidFill>
                      <a:srgbClr val="223522"/>
                    </a:solidFill>
                  </a:tcPr>
                </a:tc>
                <a:tc>
                  <a:txBody>
                    <a:bodyPr/>
                    <a:lstStyle/>
                    <a:p>
                      <a:pPr algn="r"/>
                      <a:r>
                        <a:rPr sz="1400" b="0">
                          <a:solidFill>
                            <a:srgbClr val="D8DED8"/>
                          </a:solidFill>
                          <a:latin typeface="Calibri"/>
                        </a:rPr>
                        <a:t>FedProx</a:t>
                      </a:r>
                    </a:p>
                  </a:txBody>
                  <a:tcPr marL="91440" marR="73152" marT="18288" marB="18288" anchor="ctr">
                    <a:solidFill>
                      <a:srgbClr val="223522"/>
                    </a:solidFill>
                  </a:tcPr>
                </a:tc>
                <a:tc>
                  <a:txBody>
                    <a:bodyPr/>
                    <a:lstStyle/>
                    <a:p>
                      <a:pPr algn="r"/>
                      <a:r>
                        <a:rPr sz="1400" b="0">
                          <a:solidFill>
                            <a:srgbClr val="D8DED8"/>
                          </a:solidFill>
                          <a:latin typeface="Calibri"/>
                        </a:rPr>
                        <a:t>0.3015</a:t>
                      </a:r>
                    </a:p>
                  </a:txBody>
                  <a:tcPr marL="91440" marR="73152" marT="18288" marB="18288" anchor="ctr">
                    <a:solidFill>
                      <a:srgbClr val="223522"/>
                    </a:solidFill>
                  </a:tcPr>
                </a:tc>
                <a:tc>
                  <a:txBody>
                    <a:bodyPr/>
                    <a:lstStyle/>
                    <a:p>
                      <a:pPr algn="r"/>
                      <a:r>
                        <a:rPr sz="1400" b="0">
                          <a:solidFill>
                            <a:srgbClr val="D8DED8"/>
                          </a:solidFill>
                          <a:latin typeface="Calibri"/>
                        </a:rPr>
                        <a:t>-0.0925</a:t>
                      </a:r>
                    </a:p>
                  </a:txBody>
                  <a:tcPr marL="91440" marR="73152" marT="18288" marB="18288" anchor="ctr">
                    <a:solidFill>
                      <a:srgbClr val="223522"/>
                    </a:solidFill>
                  </a:tcPr>
                </a:tc>
                <a:tc>
                  <a:txBody>
                    <a:bodyPr/>
                    <a:lstStyle/>
                    <a:p>
                      <a:pPr algn="r"/>
                      <a:r>
                        <a:rPr sz="1400" b="0">
                          <a:solidFill>
                            <a:srgbClr val="D8DED8"/>
                          </a:solidFill>
                          <a:latin typeface="Calibri"/>
                        </a:rPr>
                        <a:t>0.509</a:t>
                      </a:r>
                    </a:p>
                  </a:txBody>
                  <a:tcPr marL="91440" marR="73152" marT="18288" marB="18288" anchor="ctr">
                    <a:solidFill>
                      <a:srgbClr val="223522"/>
                    </a:solidFill>
                  </a:tcPr>
                </a:tc>
                <a:tc>
                  <a:txBody>
                    <a:bodyPr/>
                    <a:lstStyle/>
                    <a:p>
                      <a:pPr algn="r"/>
                      <a:r>
                        <a:rPr sz="1400" b="0">
                          <a:solidFill>
                            <a:srgbClr val="D8DED8"/>
                          </a:solidFill>
                          <a:latin typeface="Calibri"/>
                        </a:rPr>
                        <a:t>26</a:t>
                      </a:r>
                    </a:p>
                  </a:txBody>
                  <a:tcPr marL="91440" marR="73152" marT="18288" marB="18288" anchor="ctr">
                    <a:solidFill>
                      <a:srgbClr val="223522"/>
                    </a:solidFill>
                  </a:tcPr>
                </a:tc>
              </a:tr>
              <a:tr h="512064">
                <a:tc>
                  <a:txBody>
                    <a:bodyPr/>
                    <a:lstStyle/>
                    <a:p>
                      <a:pPr algn="l"/>
                      <a:r>
                        <a:rPr sz="1400" b="1">
                          <a:solidFill>
                            <a:srgbClr val="D8DED8"/>
                          </a:solidFill>
                          <a:latin typeface="Calibri"/>
                        </a:rPr>
                        <a:t>0.01</a:t>
                      </a:r>
                    </a:p>
                  </a:txBody>
                  <a:tcPr marL="91440" marR="73152" marT="18288" marB="18288" anchor="ctr">
                    <a:solidFill>
                      <a:srgbClr val="223522"/>
                    </a:solidFill>
                  </a:tcPr>
                </a:tc>
                <a:tc>
                  <a:txBody>
                    <a:bodyPr/>
                    <a:lstStyle/>
                    <a:p>
                      <a:pPr algn="r"/>
                      <a:r>
                        <a:rPr sz="1400" b="0">
                          <a:solidFill>
                            <a:srgbClr val="D8DED8"/>
                          </a:solidFill>
                          <a:latin typeface="Calibri"/>
                        </a:rPr>
                        <a:t>FedProx</a:t>
                      </a:r>
                    </a:p>
                  </a:txBody>
                  <a:tcPr marL="91440" marR="73152" marT="18288" marB="18288" anchor="ctr">
                    <a:solidFill>
                      <a:srgbClr val="223522"/>
                    </a:solidFill>
                  </a:tcPr>
                </a:tc>
                <a:tc>
                  <a:txBody>
                    <a:bodyPr/>
                    <a:lstStyle/>
                    <a:p>
                      <a:pPr algn="r"/>
                      <a:r>
                        <a:rPr sz="1400" b="0">
                          <a:solidFill>
                            <a:srgbClr val="D8DED8"/>
                          </a:solidFill>
                          <a:latin typeface="Calibri"/>
                        </a:rPr>
                        <a:t>0.2983</a:t>
                      </a:r>
                    </a:p>
                  </a:txBody>
                  <a:tcPr marL="91440" marR="73152" marT="18288" marB="18288" anchor="ctr">
                    <a:solidFill>
                      <a:srgbClr val="223522"/>
                    </a:solidFill>
                  </a:tcPr>
                </a:tc>
                <a:tc>
                  <a:txBody>
                    <a:bodyPr/>
                    <a:lstStyle/>
                    <a:p>
                      <a:pPr algn="r"/>
                      <a:r>
                        <a:rPr sz="1400" b="0">
                          <a:solidFill>
                            <a:srgbClr val="D8DED8"/>
                          </a:solidFill>
                          <a:latin typeface="Calibri"/>
                        </a:rPr>
                        <a:t>-0.0975</a:t>
                      </a:r>
                    </a:p>
                  </a:txBody>
                  <a:tcPr marL="91440" marR="73152" marT="18288" marB="18288" anchor="ctr">
                    <a:solidFill>
                      <a:srgbClr val="223522"/>
                    </a:solidFill>
                  </a:tcPr>
                </a:tc>
                <a:tc>
                  <a:txBody>
                    <a:bodyPr/>
                    <a:lstStyle/>
                    <a:p>
                      <a:pPr algn="r"/>
                      <a:r>
                        <a:rPr sz="1400" b="0">
                          <a:solidFill>
                            <a:srgbClr val="D8DED8"/>
                          </a:solidFill>
                          <a:latin typeface="Calibri"/>
                        </a:rPr>
                        <a:t>1.679</a:t>
                      </a:r>
                    </a:p>
                  </a:txBody>
                  <a:tcPr marL="91440" marR="73152" marT="18288" marB="18288" anchor="ctr">
                    <a:solidFill>
                      <a:srgbClr val="223522"/>
                    </a:solidFill>
                  </a:tcPr>
                </a:tc>
                <a:tc>
                  <a:txBody>
                    <a:bodyPr/>
                    <a:lstStyle/>
                    <a:p>
                      <a:pPr algn="r"/>
                      <a:r>
                        <a:rPr sz="1400" b="0">
                          <a:solidFill>
                            <a:srgbClr val="D8DED8"/>
                          </a:solidFill>
                          <a:latin typeface="Calibri"/>
                        </a:rPr>
                        <a:t>26</a:t>
                      </a:r>
                    </a:p>
                  </a:txBody>
                  <a:tcPr marL="91440" marR="73152" marT="18288" marB="18288" anchor="ctr">
                    <a:solidFill>
                      <a:srgbClr val="223522"/>
                    </a:solidFill>
                  </a:tcPr>
                </a:tc>
              </a:tr>
              <a:tr h="512064">
                <a:tc>
                  <a:txBody>
                    <a:bodyPr/>
                    <a:lstStyle/>
                    <a:p>
                      <a:pPr algn="l"/>
                      <a:r>
                        <a:rPr sz="1400" b="1">
                          <a:solidFill>
                            <a:srgbClr val="D8DED8"/>
                          </a:solidFill>
                          <a:latin typeface="Calibri"/>
                        </a:rPr>
                        <a:t>0.1</a:t>
                      </a:r>
                    </a:p>
                  </a:txBody>
                  <a:tcPr marL="91440" marR="73152" marT="18288" marB="18288" anchor="ctr">
                    <a:solidFill>
                      <a:srgbClr val="223522"/>
                    </a:solidFill>
                  </a:tcPr>
                </a:tc>
                <a:tc>
                  <a:txBody>
                    <a:bodyPr/>
                    <a:lstStyle/>
                    <a:p>
                      <a:pPr algn="r"/>
                      <a:r>
                        <a:rPr sz="1400" b="0">
                          <a:solidFill>
                            <a:srgbClr val="D8DED8"/>
                          </a:solidFill>
                          <a:latin typeface="Calibri"/>
                        </a:rPr>
                        <a:t>FedProx</a:t>
                      </a:r>
                    </a:p>
                  </a:txBody>
                  <a:tcPr marL="91440" marR="73152" marT="18288" marB="18288" anchor="ctr">
                    <a:solidFill>
                      <a:srgbClr val="223522"/>
                    </a:solidFill>
                  </a:tcPr>
                </a:tc>
                <a:tc>
                  <a:txBody>
                    <a:bodyPr/>
                    <a:lstStyle/>
                    <a:p>
                      <a:pPr algn="r"/>
                      <a:r>
                        <a:rPr sz="1400" b="0">
                          <a:solidFill>
                            <a:srgbClr val="D8DED8"/>
                          </a:solidFill>
                          <a:latin typeface="Calibri"/>
                        </a:rPr>
                        <a:t>0.2940</a:t>
                      </a:r>
                    </a:p>
                  </a:txBody>
                  <a:tcPr marL="91440" marR="73152" marT="18288" marB="18288" anchor="ctr">
                    <a:solidFill>
                      <a:srgbClr val="223522"/>
                    </a:solidFill>
                  </a:tcPr>
                </a:tc>
                <a:tc>
                  <a:txBody>
                    <a:bodyPr/>
                    <a:lstStyle/>
                    <a:p>
                      <a:pPr algn="r"/>
                      <a:r>
                        <a:rPr sz="1400" b="0">
                          <a:solidFill>
                            <a:srgbClr val="D8DED8"/>
                          </a:solidFill>
                          <a:latin typeface="Calibri"/>
                        </a:rPr>
                        <a:t>-0.1042</a:t>
                      </a:r>
                    </a:p>
                  </a:txBody>
                  <a:tcPr marL="91440" marR="73152" marT="18288" marB="18288" anchor="ctr">
                    <a:solidFill>
                      <a:srgbClr val="223522"/>
                    </a:solidFill>
                  </a:tcPr>
                </a:tc>
                <a:tc>
                  <a:txBody>
                    <a:bodyPr/>
                    <a:lstStyle/>
                    <a:p>
                      <a:pPr algn="r"/>
                      <a:r>
                        <a:rPr sz="1400" b="0">
                          <a:solidFill>
                            <a:srgbClr val="D8DED8"/>
                          </a:solidFill>
                          <a:latin typeface="Calibri"/>
                        </a:rPr>
                        <a:t>2.317</a:t>
                      </a:r>
                    </a:p>
                  </a:txBody>
                  <a:tcPr marL="91440" marR="73152" marT="18288" marB="18288" anchor="ctr">
                    <a:solidFill>
                      <a:srgbClr val="223522"/>
                    </a:solidFill>
                  </a:tcPr>
                </a:tc>
                <a:tc>
                  <a:txBody>
                    <a:bodyPr/>
                    <a:lstStyle/>
                    <a:p>
                      <a:pPr algn="r"/>
                      <a:r>
                        <a:rPr sz="1400" b="0">
                          <a:solidFill>
                            <a:srgbClr val="D8DED8"/>
                          </a:solidFill>
                          <a:latin typeface="Calibri"/>
                        </a:rPr>
                        <a:t>28</a:t>
                      </a:r>
                    </a:p>
                  </a:txBody>
                  <a:tcPr marL="91440" marR="73152" marT="18288" marB="18288" anchor="ctr">
                    <a:solidFill>
                      <a:srgbClr val="223522"/>
                    </a:solidFill>
                  </a:tcPr>
                </a:tc>
              </a:tr>
              <a:tr h="512064">
                <a:tc>
                  <a:txBody>
                    <a:bodyPr/>
                    <a:lstStyle/>
                    <a:p>
                      <a:pPr algn="l"/>
                      <a:r>
                        <a:rPr sz="1400" b="1">
                          <a:solidFill>
                            <a:srgbClr val="D8DED8"/>
                          </a:solidFill>
                          <a:latin typeface="Calibri"/>
                        </a:rPr>
                        <a:t>1</a:t>
                      </a:r>
                    </a:p>
                  </a:txBody>
                  <a:tcPr marL="91440" marR="73152" marT="18288" marB="18288" anchor="ctr">
                    <a:solidFill>
                      <a:srgbClr val="223522"/>
                    </a:solidFill>
                  </a:tcPr>
                </a:tc>
                <a:tc>
                  <a:txBody>
                    <a:bodyPr/>
                    <a:lstStyle/>
                    <a:p>
                      <a:pPr algn="r"/>
                      <a:r>
                        <a:rPr sz="1400" b="0">
                          <a:solidFill>
                            <a:srgbClr val="D8DED8"/>
                          </a:solidFill>
                          <a:latin typeface="Calibri"/>
                        </a:rPr>
                        <a:t>FedProx</a:t>
                      </a:r>
                    </a:p>
                  </a:txBody>
                  <a:tcPr marL="91440" marR="73152" marT="18288" marB="18288" anchor="ctr">
                    <a:solidFill>
                      <a:srgbClr val="223522"/>
                    </a:solidFill>
                  </a:tcPr>
                </a:tc>
                <a:tc>
                  <a:txBody>
                    <a:bodyPr/>
                    <a:lstStyle/>
                    <a:p>
                      <a:pPr algn="r"/>
                      <a:r>
                        <a:rPr sz="1400" b="0">
                          <a:solidFill>
                            <a:srgbClr val="D8DED8"/>
                          </a:solidFill>
                          <a:latin typeface="Calibri"/>
                        </a:rPr>
                        <a:t>0.2865</a:t>
                      </a:r>
                    </a:p>
                  </a:txBody>
                  <a:tcPr marL="91440" marR="73152" marT="18288" marB="18288" anchor="ctr">
                    <a:solidFill>
                      <a:srgbClr val="223522"/>
                    </a:solidFill>
                  </a:tcPr>
                </a:tc>
                <a:tc>
                  <a:txBody>
                    <a:bodyPr/>
                    <a:lstStyle/>
                    <a:p>
                      <a:pPr algn="r"/>
                      <a:r>
                        <a:rPr sz="1400" b="0">
                          <a:solidFill>
                            <a:srgbClr val="D8DED8"/>
                          </a:solidFill>
                          <a:latin typeface="Calibri"/>
                        </a:rPr>
                        <a:t>-0.1160</a:t>
                      </a:r>
                    </a:p>
                  </a:txBody>
                  <a:tcPr marL="91440" marR="73152" marT="18288" marB="18288" anchor="ctr">
                    <a:solidFill>
                      <a:srgbClr val="223522"/>
                    </a:solidFill>
                  </a:tcPr>
                </a:tc>
                <a:tc>
                  <a:txBody>
                    <a:bodyPr/>
                    <a:lstStyle/>
                    <a:p>
                      <a:pPr algn="r"/>
                      <a:r>
                        <a:rPr sz="1400" b="0">
                          <a:solidFill>
                            <a:srgbClr val="D8DED8"/>
                          </a:solidFill>
                          <a:latin typeface="Calibri"/>
                        </a:rPr>
                        <a:t>2.596</a:t>
                      </a:r>
                    </a:p>
                  </a:txBody>
                  <a:tcPr marL="91440" marR="73152" marT="18288" marB="18288" anchor="ctr">
                    <a:solidFill>
                      <a:srgbClr val="223522"/>
                    </a:solidFill>
                  </a:tcPr>
                </a:tc>
                <a:tc>
                  <a:txBody>
                    <a:bodyPr/>
                    <a:lstStyle/>
                    <a:p>
                      <a:pPr algn="r"/>
                      <a:r>
                        <a:rPr sz="1400" b="0">
                          <a:solidFill>
                            <a:srgbClr val="D8DED8"/>
                          </a:solidFill>
                          <a:latin typeface="Calibri"/>
                        </a:rPr>
                        <a:t>32</a:t>
                      </a:r>
                    </a:p>
                  </a:txBody>
                  <a:tcPr marL="91440" marR="73152" marT="18288" marB="18288" anchor="ctr">
                    <a:solidFill>
                      <a:srgbClr val="223522"/>
                    </a:solidFill>
                  </a:tcPr>
                </a:tc>
              </a:tr>
            </a:tbl>
          </a:graphicData>
        </a:graphic>
      </p:graphicFrame>
      <p:sp>
        <p:nvSpPr>
          <p:cNvPr id="6" name="TextBox 5"/>
          <p:cNvSpPr txBox="1"/>
          <p:nvPr/>
        </p:nvSpPr>
        <p:spPr>
          <a:xfrm>
            <a:off x="658368" y="4983480"/>
            <a:ext cx="10874959" cy="731520"/>
          </a:xfrm>
          <a:prstGeom prst="rect">
            <a:avLst/>
          </a:prstGeom>
          <a:noFill/>
        </p:spPr>
        <p:txBody>
          <a:bodyPr wrap="square" lIns="0" rIns="0" tIns="0" bIns="0">
            <a:spAutoFit/>
          </a:bodyPr>
          <a:lstStyle/>
          <a:p>
            <a:pPr algn="l">
              <a:lnSpc>
                <a:spcPct val="112000"/>
              </a:lnSpc>
            </a:pPr>
            <a:r>
              <a:rPr sz="1500" b="0">
                <a:solidFill>
                  <a:srgbClr val="A8B4A8"/>
                </a:solidFill>
                <a:latin typeface="Calibri"/>
              </a:rPr>
              <a:t>The proximal term is active, not inert: parameter distance from the FedAvg solution rises monotonically with μ, from 0.509 to 2.596. It is doing what it is supposed to do. It simply does not help here: the best R² in the sweep is 0.3019 at μ = 0, and no setting lifts FedProx above the trend baseline. Reporting the sweep matters more than reporting a tuned winner, because it shows the negative result was measured rather than assumed.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B1C"/>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223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82880"/>
            <a:ext cx="10058400" cy="237744"/>
          </a:xfrm>
          <a:prstGeom prst="rect">
            <a:avLst/>
          </a:prstGeom>
          <a:noFill/>
        </p:spPr>
        <p:txBody>
          <a:bodyPr wrap="square" lIns="0" rIns="0" tIns="0" bIns="0">
            <a:spAutoFit/>
          </a:bodyPr>
          <a:lstStyle/>
          <a:p>
            <a:pPr algn="l">
              <a:lnSpc>
                <a:spcPct val="100000"/>
              </a:lnSpc>
            </a:pPr>
            <a:r>
              <a:rPr sz="1100" b="1">
                <a:solidFill>
                  <a:srgbClr val="97BC62"/>
                </a:solidFill>
                <a:latin typeface="Calibri"/>
              </a:rPr>
              <a:t>R3 · SOLUTION EFFECTIVENESS</a:t>
            </a:r>
          </a:p>
        </p:txBody>
      </p:sp>
      <p:sp>
        <p:nvSpPr>
          <p:cNvPr id="4" name="TextBox 3"/>
          <p:cNvSpPr txBox="1"/>
          <p:nvPr/>
        </p:nvSpPr>
        <p:spPr>
          <a:xfrm>
            <a:off x="658368" y="420624"/>
            <a:ext cx="10881360" cy="457200"/>
          </a:xfrm>
          <a:prstGeom prst="rect">
            <a:avLst/>
          </a:prstGeom>
          <a:noFill/>
        </p:spPr>
        <p:txBody>
          <a:bodyPr wrap="square" lIns="0" rIns="0" tIns="0" bIns="0">
            <a:spAutoFit/>
          </a:bodyPr>
          <a:lstStyle/>
          <a:p>
            <a:pPr algn="l">
              <a:lnSpc>
                <a:spcPct val="100000"/>
              </a:lnSpc>
            </a:pPr>
            <a:r>
              <a:rPr sz="2500" b="1">
                <a:solidFill>
                  <a:srgbClr val="D8DED8"/>
                </a:solidFill>
                <a:latin typeface="Cambria"/>
              </a:rPr>
              <a:t>Predictive skill against a ceiling and a floor</a:t>
            </a:r>
          </a:p>
        </p:txBody>
      </p:sp>
      <p:graphicFrame>
        <p:nvGraphicFramePr>
          <p:cNvPr id="5" name="Table 4"/>
          <p:cNvGraphicFramePr>
            <a:graphicFrameLocks noGrp="1"/>
          </p:cNvGraphicFramePr>
          <p:nvPr/>
        </p:nvGraphicFramePr>
        <p:xfrm>
          <a:off x="658368" y="1325880"/>
          <a:ext cx="10874957" cy="3703320"/>
        </p:xfrm>
        <a:graphic>
          <a:graphicData uri="http://schemas.openxmlformats.org/drawingml/2006/table">
            <a:tbl>
              <a:tblPr>
                <a:tableStyleId>{5C22544A-7EE6-4342-B048-85BDC9FD1C3A}</a:tableStyleId>
              </a:tblPr>
              <a:tblGrid>
                <a:gridCol w="2174991"/>
                <a:gridCol w="2458686"/>
                <a:gridCol w="2458686"/>
                <a:gridCol w="2553251"/>
                <a:gridCol w="1229343"/>
              </a:tblGrid>
              <a:tr h="411480">
                <a:tc>
                  <a:txBody>
                    <a:bodyPr/>
                    <a:lstStyle/>
                    <a:p>
                      <a:pPr algn="l"/>
                      <a:r>
                        <a:rPr sz="1350" b="1">
                          <a:solidFill>
                            <a:srgbClr val="D8DED8"/>
                          </a:solidFill>
                          <a:latin typeface="Calibri"/>
                        </a:rPr>
                        <a:t>Arm</a:t>
                      </a:r>
                    </a:p>
                  </a:txBody>
                  <a:tcPr marL="91440" marR="73152" marT="18288" marB="18288" anchor="ctr">
                    <a:solidFill>
                      <a:srgbClr val="2C5F2D"/>
                    </a:solidFill>
                  </a:tcPr>
                </a:tc>
                <a:tc>
                  <a:txBody>
                    <a:bodyPr/>
                    <a:lstStyle/>
                    <a:p>
                      <a:pPr algn="r"/>
                      <a:r>
                        <a:rPr sz="1350" b="1">
                          <a:solidFill>
                            <a:srgbClr val="D8DED8"/>
                          </a:solidFill>
                          <a:latin typeface="Calibri"/>
                        </a:rPr>
                        <a:t>R²</a:t>
                      </a:r>
                    </a:p>
                  </a:txBody>
                  <a:tcPr marL="91440" marR="73152" marT="18288" marB="18288" anchor="ctr">
                    <a:solidFill>
                      <a:srgbClr val="2C5F2D"/>
                    </a:solidFill>
                  </a:tcPr>
                </a:tc>
                <a:tc>
                  <a:txBody>
                    <a:bodyPr/>
                    <a:lstStyle/>
                    <a:p>
                      <a:pPr algn="r"/>
                      <a:r>
                        <a:rPr sz="1350" b="1">
                          <a:solidFill>
                            <a:srgbClr val="D8DED8"/>
                          </a:solidFill>
                          <a:latin typeface="Calibri"/>
                        </a:rPr>
                        <a:t>Skill vs trend</a:t>
                      </a:r>
                    </a:p>
                  </a:txBody>
                  <a:tcPr marL="91440" marR="73152" marT="18288" marB="18288" anchor="ctr">
                    <a:solidFill>
                      <a:srgbClr val="2C5F2D"/>
                    </a:solidFill>
                  </a:tcPr>
                </a:tc>
                <a:tc>
                  <a:txBody>
                    <a:bodyPr/>
                    <a:lstStyle/>
                    <a:p>
                      <a:pPr algn="r"/>
                      <a:r>
                        <a:rPr sz="1350" b="1">
                          <a:solidFill>
                            <a:srgbClr val="D8DED8"/>
                          </a:solidFill>
                          <a:latin typeface="Calibri"/>
                        </a:rPr>
                        <a:t>Worst-client RMSE</a:t>
                      </a:r>
                    </a:p>
                  </a:txBody>
                  <a:tcPr marL="91440" marR="73152" marT="18288" marB="18288" anchor="ctr">
                    <a:solidFill>
                      <a:srgbClr val="2C5F2D"/>
                    </a:solidFill>
                  </a:tcPr>
                </a:tc>
                <a:tc>
                  <a:txBody>
                    <a:bodyPr/>
                    <a:lstStyle/>
                    <a:p>
                      <a:pPr algn="r"/>
                      <a:r>
                        <a:rPr sz="1350" b="1">
                          <a:solidFill>
                            <a:srgbClr val="D8DED8"/>
                          </a:solidFill>
                          <a:latin typeface="Calibri"/>
                        </a:rPr>
                        <a:t>Seeds</a:t>
                      </a:r>
                    </a:p>
                  </a:txBody>
                  <a:tcPr marL="91440" marR="73152" marT="18288" marB="18288" anchor="ctr">
                    <a:solidFill>
                      <a:srgbClr val="2C5F2D"/>
                    </a:solidFill>
                  </a:tcPr>
                </a:tc>
              </a:tr>
              <a:tr h="411480">
                <a:tc>
                  <a:txBody>
                    <a:bodyPr/>
                    <a:lstStyle/>
                    <a:p>
                      <a:pPr algn="l"/>
                      <a:r>
                        <a:rPr sz="1350" b="1">
                          <a:solidFill>
                            <a:srgbClr val="D8DED8"/>
                          </a:solidFill>
                          <a:latin typeface="Calibri"/>
                        </a:rPr>
                        <a:t>Global mean</a:t>
                      </a:r>
                    </a:p>
                  </a:txBody>
                  <a:tcPr marL="91440" marR="73152" marT="18288" marB="18288" anchor="ctr">
                    <a:solidFill>
                      <a:srgbClr val="223522"/>
                    </a:solidFill>
                  </a:tcPr>
                </a:tc>
                <a:tc>
                  <a:txBody>
                    <a:bodyPr/>
                    <a:lstStyle/>
                    <a:p>
                      <a:pPr algn="r"/>
                      <a:r>
                        <a:rPr sz="1350" b="0">
                          <a:solidFill>
                            <a:srgbClr val="D8DED8"/>
                          </a:solidFill>
                          <a:latin typeface="Calibri"/>
                        </a:rPr>
                        <a:t>-0.263</a:t>
                      </a:r>
                    </a:p>
                  </a:txBody>
                  <a:tcPr marL="91440" marR="73152" marT="18288" marB="18288" anchor="ctr">
                    <a:solidFill>
                      <a:srgbClr val="223522"/>
                    </a:solidFill>
                  </a:tcPr>
                </a:tc>
                <a:tc>
                  <a:txBody>
                    <a:bodyPr/>
                    <a:lstStyle/>
                    <a:p>
                      <a:pPr algn="r"/>
                      <a:r>
                        <a:rPr sz="1350" b="0">
                          <a:solidFill>
                            <a:srgbClr val="D8DED8"/>
                          </a:solidFill>
                          <a:latin typeface="Calibri"/>
                        </a:rPr>
                        <a:t>—</a:t>
                      </a:r>
                    </a:p>
                  </a:txBody>
                  <a:tcPr marL="91440" marR="73152" marT="18288" marB="18288" anchor="ctr">
                    <a:solidFill>
                      <a:srgbClr val="223522"/>
                    </a:solidFill>
                  </a:tcPr>
                </a:tc>
                <a:tc>
                  <a:txBody>
                    <a:bodyPr/>
                    <a:lstStyle/>
                    <a:p>
                      <a:pPr algn="r"/>
                      <a:r>
                        <a:rPr sz="1350" b="0">
                          <a:solidFill>
                            <a:srgbClr val="D8DED8"/>
                          </a:solidFill>
                          <a:latin typeface="Calibri"/>
                        </a:rPr>
                        <a:t>2,015</a:t>
                      </a:r>
                    </a:p>
                  </a:txBody>
                  <a:tcPr marL="91440" marR="73152" marT="18288" marB="18288" anchor="ctr">
                    <a:solidFill>
                      <a:srgbClr val="223522"/>
                    </a:solidFill>
                  </a:tcPr>
                </a:tc>
                <a:tc>
                  <a:txBody>
                    <a:bodyPr/>
                    <a:lstStyle/>
                    <a:p>
                      <a:pPr algn="r"/>
                      <a:r>
                        <a:rPr sz="1350" b="0">
                          <a:solidFill>
                            <a:srgbClr val="D8DED8"/>
                          </a:solidFill>
                          <a:latin typeface="Calibri"/>
                        </a:rPr>
                        <a:t>1</a:t>
                      </a:r>
                    </a:p>
                  </a:txBody>
                  <a:tcPr marL="91440" marR="73152" marT="18288" marB="18288" anchor="ctr">
                    <a:solidFill>
                      <a:srgbClr val="223522"/>
                    </a:solidFill>
                  </a:tcPr>
                </a:tc>
              </a:tr>
              <a:tr h="411480">
                <a:tc>
                  <a:txBody>
                    <a:bodyPr/>
                    <a:lstStyle/>
                    <a:p>
                      <a:pPr algn="l"/>
                      <a:r>
                        <a:rPr sz="1350" b="1">
                          <a:solidFill>
                            <a:srgbClr val="D8DED8"/>
                          </a:solidFill>
                          <a:latin typeface="Calibri"/>
                        </a:rPr>
                        <a:t>District mean</a:t>
                      </a:r>
                    </a:p>
                  </a:txBody>
                  <a:tcPr marL="91440" marR="73152" marT="18288" marB="18288" anchor="ctr">
                    <a:solidFill>
                      <a:srgbClr val="223522"/>
                    </a:solidFill>
                  </a:tcPr>
                </a:tc>
                <a:tc>
                  <a:txBody>
                    <a:bodyPr/>
                    <a:lstStyle/>
                    <a:p>
                      <a:pPr algn="r"/>
                      <a:r>
                        <a:rPr sz="1350" b="0">
                          <a:solidFill>
                            <a:srgbClr val="D8DED8"/>
                          </a:solidFill>
                          <a:latin typeface="Calibri"/>
                        </a:rPr>
                        <a:t>0.304</a:t>
                      </a:r>
                    </a:p>
                  </a:txBody>
                  <a:tcPr marL="91440" marR="73152" marT="18288" marB="18288" anchor="ctr">
                    <a:solidFill>
                      <a:srgbClr val="223522"/>
                    </a:solidFill>
                  </a:tcPr>
                </a:tc>
                <a:tc>
                  <a:txBody>
                    <a:bodyPr/>
                    <a:lstStyle/>
                    <a:p>
                      <a:pPr algn="r"/>
                      <a:r>
                        <a:rPr sz="1350" b="0">
                          <a:solidFill>
                            <a:srgbClr val="D8DED8"/>
                          </a:solidFill>
                          <a:latin typeface="Calibri"/>
                        </a:rPr>
                        <a:t>—</a:t>
                      </a:r>
                    </a:p>
                  </a:txBody>
                  <a:tcPr marL="91440" marR="73152" marT="18288" marB="18288" anchor="ctr">
                    <a:solidFill>
                      <a:srgbClr val="223522"/>
                    </a:solidFill>
                  </a:tcPr>
                </a:tc>
                <a:tc>
                  <a:txBody>
                    <a:bodyPr/>
                    <a:lstStyle/>
                    <a:p>
                      <a:pPr algn="r"/>
                      <a:r>
                        <a:rPr sz="1350" b="0">
                          <a:solidFill>
                            <a:srgbClr val="D8DED8"/>
                          </a:solidFill>
                          <a:latin typeface="Calibri"/>
                        </a:rPr>
                        <a:t>1,189</a:t>
                      </a:r>
                    </a:p>
                  </a:txBody>
                  <a:tcPr marL="91440" marR="73152" marT="18288" marB="18288" anchor="ctr">
                    <a:solidFill>
                      <a:srgbClr val="223522"/>
                    </a:solidFill>
                  </a:tcPr>
                </a:tc>
                <a:tc>
                  <a:txBody>
                    <a:bodyPr/>
                    <a:lstStyle/>
                    <a:p>
                      <a:pPr algn="r"/>
                      <a:r>
                        <a:rPr sz="1350" b="0">
                          <a:solidFill>
                            <a:srgbClr val="D8DED8"/>
                          </a:solidFill>
                          <a:latin typeface="Calibri"/>
                        </a:rPr>
                        <a:t>1</a:t>
                      </a:r>
                    </a:p>
                  </a:txBody>
                  <a:tcPr marL="91440" marR="73152" marT="18288" marB="18288" anchor="ctr">
                    <a:solidFill>
                      <a:srgbClr val="223522"/>
                    </a:solidFill>
                  </a:tcPr>
                </a:tc>
              </a:tr>
              <a:tr h="411480">
                <a:tc>
                  <a:txBody>
                    <a:bodyPr/>
                    <a:lstStyle/>
                    <a:p>
                      <a:pPr algn="l"/>
                      <a:r>
                        <a:rPr sz="1350" b="1">
                          <a:solidFill>
                            <a:srgbClr val="D8DED8"/>
                          </a:solidFill>
                          <a:latin typeface="Calibri"/>
                        </a:rPr>
                        <a:t>District trend</a:t>
                      </a:r>
                    </a:p>
                  </a:txBody>
                  <a:tcPr marL="91440" marR="73152" marT="18288" marB="18288" anchor="ctr">
                    <a:solidFill>
                      <a:srgbClr val="223522"/>
                    </a:solidFill>
                  </a:tcPr>
                </a:tc>
                <a:tc>
                  <a:txBody>
                    <a:bodyPr/>
                    <a:lstStyle/>
                    <a:p>
                      <a:pPr algn="r"/>
                      <a:r>
                        <a:rPr sz="1350" b="0">
                          <a:solidFill>
                            <a:srgbClr val="D8DED8"/>
                          </a:solidFill>
                          <a:latin typeface="Calibri"/>
                        </a:rPr>
                        <a:t>0.348</a:t>
                      </a:r>
                    </a:p>
                  </a:txBody>
                  <a:tcPr marL="91440" marR="73152" marT="18288" marB="18288" anchor="ctr">
                    <a:solidFill>
                      <a:srgbClr val="223522"/>
                    </a:solidFill>
                  </a:tcPr>
                </a:tc>
                <a:tc>
                  <a:txBody>
                    <a:bodyPr/>
                    <a:lstStyle/>
                    <a:p>
                      <a:pPr algn="r"/>
                      <a:r>
                        <a:rPr sz="1350" b="0">
                          <a:solidFill>
                            <a:srgbClr val="D8DED8"/>
                          </a:solidFill>
                          <a:latin typeface="Calibri"/>
                        </a:rPr>
                        <a:t>baseline</a:t>
                      </a:r>
                    </a:p>
                  </a:txBody>
                  <a:tcPr marL="91440" marR="73152" marT="18288" marB="18288" anchor="ctr">
                    <a:solidFill>
                      <a:srgbClr val="223522"/>
                    </a:solidFill>
                  </a:tcPr>
                </a:tc>
                <a:tc>
                  <a:txBody>
                    <a:bodyPr/>
                    <a:lstStyle/>
                    <a:p>
                      <a:pPr algn="r"/>
                      <a:r>
                        <a:rPr sz="1350" b="0">
                          <a:solidFill>
                            <a:srgbClr val="D8DED8"/>
                          </a:solidFill>
                          <a:latin typeface="Calibri"/>
                        </a:rPr>
                        <a:t>1,148</a:t>
                      </a:r>
                    </a:p>
                  </a:txBody>
                  <a:tcPr marL="91440" marR="73152" marT="18288" marB="18288" anchor="ctr">
                    <a:solidFill>
                      <a:srgbClr val="223522"/>
                    </a:solidFill>
                  </a:tcPr>
                </a:tc>
                <a:tc>
                  <a:txBody>
                    <a:bodyPr/>
                    <a:lstStyle/>
                    <a:p>
                      <a:pPr algn="r"/>
                      <a:r>
                        <a:rPr sz="1350" b="0">
                          <a:solidFill>
                            <a:srgbClr val="D8DED8"/>
                          </a:solidFill>
                          <a:latin typeface="Calibri"/>
                        </a:rPr>
                        <a:t>1</a:t>
                      </a:r>
                    </a:p>
                  </a:txBody>
                  <a:tcPr marL="91440" marR="73152" marT="18288" marB="18288" anchor="ctr">
                    <a:solidFill>
                      <a:srgbClr val="223522"/>
                    </a:solidFill>
                  </a:tcPr>
                </a:tc>
              </a:tr>
              <a:tr h="411480">
                <a:tc>
                  <a:txBody>
                    <a:bodyPr/>
                    <a:lstStyle/>
                    <a:p>
                      <a:pPr algn="l"/>
                      <a:r>
                        <a:rPr sz="1350" b="1">
                          <a:solidFill>
                            <a:srgbClr val="97BC62"/>
                          </a:solidFill>
                          <a:latin typeface="Calibri"/>
                        </a:rPr>
                        <a:t>Centralised</a:t>
                      </a:r>
                    </a:p>
                  </a:txBody>
                  <a:tcPr marL="91440" marR="73152" marT="18288" marB="18288" anchor="ctr">
                    <a:solidFill>
                      <a:srgbClr val="223522"/>
                    </a:solidFill>
                  </a:tcPr>
                </a:tc>
                <a:tc>
                  <a:txBody>
                    <a:bodyPr/>
                    <a:lstStyle/>
                    <a:p>
                      <a:pPr algn="r"/>
                      <a:r>
                        <a:rPr sz="1350" b="0">
                          <a:solidFill>
                            <a:srgbClr val="D8DED8"/>
                          </a:solidFill>
                          <a:latin typeface="Calibri"/>
                        </a:rPr>
                        <a:t>0.448 ± 0.018</a:t>
                      </a:r>
                    </a:p>
                  </a:txBody>
                  <a:tcPr marL="91440" marR="73152" marT="18288" marB="18288" anchor="ctr">
                    <a:solidFill>
                      <a:srgbClr val="223522"/>
                    </a:solidFill>
                  </a:tcPr>
                </a:tc>
                <a:tc>
                  <a:txBody>
                    <a:bodyPr/>
                    <a:lstStyle/>
                    <a:p>
                      <a:pPr algn="r"/>
                      <a:r>
                        <a:rPr sz="1350" b="0">
                          <a:solidFill>
                            <a:srgbClr val="D8DED8"/>
                          </a:solidFill>
                          <a:latin typeface="Calibri"/>
                        </a:rPr>
                        <a:t>+0.136 ± 0.029</a:t>
                      </a:r>
                    </a:p>
                  </a:txBody>
                  <a:tcPr marL="91440" marR="73152" marT="18288" marB="18288" anchor="ctr">
                    <a:solidFill>
                      <a:srgbClr val="223522"/>
                    </a:solidFill>
                  </a:tcPr>
                </a:tc>
                <a:tc>
                  <a:txBody>
                    <a:bodyPr/>
                    <a:lstStyle/>
                    <a:p>
                      <a:pPr algn="r"/>
                      <a:r>
                        <a:rPr sz="1350" b="0">
                          <a:solidFill>
                            <a:srgbClr val="D8DED8"/>
                          </a:solidFill>
                          <a:latin typeface="Calibri"/>
                        </a:rPr>
                        <a:t>1,005</a:t>
                      </a:r>
                    </a:p>
                  </a:txBody>
                  <a:tcPr marL="91440" marR="73152" marT="18288" marB="18288" anchor="ctr">
                    <a:solidFill>
                      <a:srgbClr val="223522"/>
                    </a:solidFill>
                  </a:tcPr>
                </a:tc>
                <a:tc>
                  <a:txBody>
                    <a:bodyPr/>
                    <a:lstStyle/>
                    <a:p>
                      <a:pPr algn="r"/>
                      <a:r>
                        <a:rPr sz="1350" b="0">
                          <a:solidFill>
                            <a:srgbClr val="D8DED8"/>
                          </a:solidFill>
                          <a:latin typeface="Calibri"/>
                        </a:rPr>
                        <a:t>5</a:t>
                      </a:r>
                    </a:p>
                  </a:txBody>
                  <a:tcPr marL="91440" marR="73152" marT="18288" marB="18288" anchor="ctr">
                    <a:solidFill>
                      <a:srgbClr val="223522"/>
                    </a:solidFill>
                  </a:tcPr>
                </a:tc>
              </a:tr>
              <a:tr h="411480">
                <a:tc>
                  <a:txBody>
                    <a:bodyPr/>
                    <a:lstStyle/>
                    <a:p>
                      <a:pPr algn="l"/>
                      <a:r>
                        <a:rPr sz="1350" b="1">
                          <a:solidFill>
                            <a:srgbClr val="97BC62"/>
                          </a:solidFill>
                          <a:latin typeface="Calibri"/>
                        </a:rPr>
                        <a:t>Local-only</a:t>
                      </a:r>
                    </a:p>
                  </a:txBody>
                  <a:tcPr marL="91440" marR="73152" marT="18288" marB="18288" anchor="ctr">
                    <a:solidFill>
                      <a:srgbClr val="223522"/>
                    </a:solidFill>
                  </a:tcPr>
                </a:tc>
                <a:tc>
                  <a:txBody>
                    <a:bodyPr/>
                    <a:lstStyle/>
                    <a:p>
                      <a:pPr algn="r"/>
                      <a:r>
                        <a:rPr sz="1350" b="0">
                          <a:solidFill>
                            <a:srgbClr val="D8DED8"/>
                          </a:solidFill>
                          <a:latin typeface="Calibri"/>
                        </a:rPr>
                        <a:t>0.391 ± 0.020</a:t>
                      </a:r>
                    </a:p>
                  </a:txBody>
                  <a:tcPr marL="91440" marR="73152" marT="18288" marB="18288" anchor="ctr">
                    <a:solidFill>
                      <a:srgbClr val="223522"/>
                    </a:solidFill>
                  </a:tcPr>
                </a:tc>
                <a:tc>
                  <a:txBody>
                    <a:bodyPr/>
                    <a:lstStyle/>
                    <a:p>
                      <a:pPr algn="r"/>
                      <a:r>
                        <a:rPr sz="1350" b="0">
                          <a:solidFill>
                            <a:srgbClr val="D8DED8"/>
                          </a:solidFill>
                          <a:latin typeface="Calibri"/>
                        </a:rPr>
                        <a:t>+0.047 ± 0.031</a:t>
                      </a:r>
                    </a:p>
                  </a:txBody>
                  <a:tcPr marL="91440" marR="73152" marT="18288" marB="18288" anchor="ctr">
                    <a:solidFill>
                      <a:srgbClr val="223522"/>
                    </a:solidFill>
                  </a:tcPr>
                </a:tc>
                <a:tc>
                  <a:txBody>
                    <a:bodyPr/>
                    <a:lstStyle/>
                    <a:p>
                      <a:pPr algn="r"/>
                      <a:r>
                        <a:rPr sz="1350" b="0">
                          <a:solidFill>
                            <a:srgbClr val="D8DED8"/>
                          </a:solidFill>
                          <a:latin typeface="Calibri"/>
                        </a:rPr>
                        <a:t>1,150</a:t>
                      </a:r>
                    </a:p>
                  </a:txBody>
                  <a:tcPr marL="91440" marR="73152" marT="18288" marB="18288" anchor="ctr">
                    <a:solidFill>
                      <a:srgbClr val="223522"/>
                    </a:solidFill>
                  </a:tcPr>
                </a:tc>
                <a:tc>
                  <a:txBody>
                    <a:bodyPr/>
                    <a:lstStyle/>
                    <a:p>
                      <a:pPr algn="r"/>
                      <a:r>
                        <a:rPr sz="1350" b="0">
                          <a:solidFill>
                            <a:srgbClr val="D8DED8"/>
                          </a:solidFill>
                          <a:latin typeface="Calibri"/>
                        </a:rPr>
                        <a:t>5</a:t>
                      </a:r>
                    </a:p>
                  </a:txBody>
                  <a:tcPr marL="91440" marR="73152" marT="18288" marB="18288" anchor="ctr">
                    <a:solidFill>
                      <a:srgbClr val="223522"/>
                    </a:solidFill>
                  </a:tcPr>
                </a:tc>
              </a:tr>
              <a:tr h="411480">
                <a:tc>
                  <a:txBody>
                    <a:bodyPr/>
                    <a:lstStyle/>
                    <a:p>
                      <a:pPr algn="l"/>
                      <a:r>
                        <a:rPr sz="1350" b="1">
                          <a:solidFill>
                            <a:srgbClr val="97BC62"/>
                          </a:solidFill>
                          <a:latin typeface="Calibri"/>
                        </a:rPr>
                        <a:t>FedPer</a:t>
                      </a:r>
                    </a:p>
                  </a:txBody>
                  <a:tcPr marL="91440" marR="73152" marT="18288" marB="18288" anchor="ctr">
                    <a:solidFill>
                      <a:srgbClr val="223522"/>
                    </a:solidFill>
                  </a:tcPr>
                </a:tc>
                <a:tc>
                  <a:txBody>
                    <a:bodyPr/>
                    <a:lstStyle/>
                    <a:p>
                      <a:pPr algn="r"/>
                      <a:r>
                        <a:rPr sz="1350" b="0">
                          <a:solidFill>
                            <a:srgbClr val="D8DED8"/>
                          </a:solidFill>
                          <a:latin typeface="Calibri"/>
                        </a:rPr>
                        <a:t>0.364 ± 0.016</a:t>
                      </a:r>
                    </a:p>
                  </a:txBody>
                  <a:tcPr marL="91440" marR="73152" marT="18288" marB="18288" anchor="ctr">
                    <a:solidFill>
                      <a:srgbClr val="223522"/>
                    </a:solidFill>
                  </a:tcPr>
                </a:tc>
                <a:tc>
                  <a:txBody>
                    <a:bodyPr/>
                    <a:lstStyle/>
                    <a:p>
                      <a:pPr algn="r"/>
                      <a:r>
                        <a:rPr sz="1350" b="0">
                          <a:solidFill>
                            <a:srgbClr val="D8DED8"/>
                          </a:solidFill>
                          <a:latin typeface="Calibri"/>
                        </a:rPr>
                        <a:t>+0.005 ± 0.024</a:t>
                      </a:r>
                    </a:p>
                  </a:txBody>
                  <a:tcPr marL="91440" marR="73152" marT="18288" marB="18288" anchor="ctr">
                    <a:solidFill>
                      <a:srgbClr val="223522"/>
                    </a:solidFill>
                  </a:tcPr>
                </a:tc>
                <a:tc>
                  <a:txBody>
                    <a:bodyPr/>
                    <a:lstStyle/>
                    <a:p>
                      <a:pPr algn="r"/>
                      <a:r>
                        <a:rPr sz="1350" b="0">
                          <a:solidFill>
                            <a:srgbClr val="D8DED8"/>
                          </a:solidFill>
                          <a:latin typeface="Calibri"/>
                        </a:rPr>
                        <a:t>1,301</a:t>
                      </a:r>
                    </a:p>
                  </a:txBody>
                  <a:tcPr marL="91440" marR="73152" marT="18288" marB="18288" anchor="ctr">
                    <a:solidFill>
                      <a:srgbClr val="223522"/>
                    </a:solidFill>
                  </a:tcPr>
                </a:tc>
                <a:tc>
                  <a:txBody>
                    <a:bodyPr/>
                    <a:lstStyle/>
                    <a:p>
                      <a:pPr algn="r"/>
                      <a:r>
                        <a:rPr sz="1350" b="0">
                          <a:solidFill>
                            <a:srgbClr val="D8DED8"/>
                          </a:solidFill>
                          <a:latin typeface="Calibri"/>
                        </a:rPr>
                        <a:t>5</a:t>
                      </a:r>
                    </a:p>
                  </a:txBody>
                  <a:tcPr marL="91440" marR="73152" marT="18288" marB="18288" anchor="ctr">
                    <a:solidFill>
                      <a:srgbClr val="223522"/>
                    </a:solidFill>
                  </a:tcPr>
                </a:tc>
              </a:tr>
              <a:tr h="411480">
                <a:tc>
                  <a:txBody>
                    <a:bodyPr/>
                    <a:lstStyle/>
                    <a:p>
                      <a:pPr algn="l"/>
                      <a:r>
                        <a:rPr sz="1350" b="1">
                          <a:solidFill>
                            <a:srgbClr val="B85042"/>
                          </a:solidFill>
                          <a:latin typeface="Calibri"/>
                        </a:rPr>
                        <a:t>FedAvg</a:t>
                      </a:r>
                    </a:p>
                  </a:txBody>
                  <a:tcPr marL="91440" marR="73152" marT="18288" marB="18288" anchor="ctr">
                    <a:solidFill>
                      <a:srgbClr val="223522"/>
                    </a:solidFill>
                  </a:tcPr>
                </a:tc>
                <a:tc>
                  <a:txBody>
                    <a:bodyPr/>
                    <a:lstStyle/>
                    <a:p>
                      <a:pPr algn="r"/>
                      <a:r>
                        <a:rPr sz="1350" b="0">
                          <a:solidFill>
                            <a:srgbClr val="D8DED8"/>
                          </a:solidFill>
                          <a:latin typeface="Calibri"/>
                        </a:rPr>
                        <a:t>0.295 ± 0.010</a:t>
                      </a:r>
                    </a:p>
                  </a:txBody>
                  <a:tcPr marL="91440" marR="73152" marT="18288" marB="18288" anchor="ctr">
                    <a:solidFill>
                      <a:srgbClr val="223522"/>
                    </a:solidFill>
                  </a:tcPr>
                </a:tc>
                <a:tc>
                  <a:txBody>
                    <a:bodyPr/>
                    <a:lstStyle/>
                    <a:p>
                      <a:pPr algn="r"/>
                      <a:r>
                        <a:rPr sz="1350" b="0">
                          <a:solidFill>
                            <a:srgbClr val="D8DED8"/>
                          </a:solidFill>
                          <a:latin typeface="Calibri"/>
                        </a:rPr>
                        <a:t>-0.103 ± 0.015</a:t>
                      </a:r>
                    </a:p>
                  </a:txBody>
                  <a:tcPr marL="91440" marR="73152" marT="18288" marB="18288" anchor="ctr">
                    <a:solidFill>
                      <a:srgbClr val="223522"/>
                    </a:solidFill>
                  </a:tcPr>
                </a:tc>
                <a:tc>
                  <a:txBody>
                    <a:bodyPr/>
                    <a:lstStyle/>
                    <a:p>
                      <a:pPr algn="r"/>
                      <a:r>
                        <a:rPr sz="1350" b="0">
                          <a:solidFill>
                            <a:srgbClr val="D8DED8"/>
                          </a:solidFill>
                          <a:latin typeface="Calibri"/>
                        </a:rPr>
                        <a:t>1,110</a:t>
                      </a:r>
                    </a:p>
                  </a:txBody>
                  <a:tcPr marL="91440" marR="73152" marT="18288" marB="18288" anchor="ctr">
                    <a:solidFill>
                      <a:srgbClr val="223522"/>
                    </a:solidFill>
                  </a:tcPr>
                </a:tc>
                <a:tc>
                  <a:txBody>
                    <a:bodyPr/>
                    <a:lstStyle/>
                    <a:p>
                      <a:pPr algn="r"/>
                      <a:r>
                        <a:rPr sz="1350" b="0">
                          <a:solidFill>
                            <a:srgbClr val="D8DED8"/>
                          </a:solidFill>
                          <a:latin typeface="Calibri"/>
                        </a:rPr>
                        <a:t>5</a:t>
                      </a:r>
                    </a:p>
                  </a:txBody>
                  <a:tcPr marL="91440" marR="73152" marT="18288" marB="18288" anchor="ctr">
                    <a:solidFill>
                      <a:srgbClr val="223522"/>
                    </a:solidFill>
                  </a:tcPr>
                </a:tc>
              </a:tr>
              <a:tr h="411480">
                <a:tc>
                  <a:txBody>
                    <a:bodyPr/>
                    <a:lstStyle/>
                    <a:p>
                      <a:pPr algn="l"/>
                      <a:r>
                        <a:rPr sz="1350" b="1">
                          <a:solidFill>
                            <a:srgbClr val="B85042"/>
                          </a:solidFill>
                          <a:latin typeface="Calibri"/>
                        </a:rPr>
                        <a:t>FedProx</a:t>
                      </a:r>
                    </a:p>
                  </a:txBody>
                  <a:tcPr marL="91440" marR="73152" marT="18288" marB="18288" anchor="ctr">
                    <a:solidFill>
                      <a:srgbClr val="223522"/>
                    </a:solidFill>
                  </a:tcPr>
                </a:tc>
                <a:tc>
                  <a:txBody>
                    <a:bodyPr/>
                    <a:lstStyle/>
                    <a:p>
                      <a:pPr algn="r"/>
                      <a:r>
                        <a:rPr sz="1350" b="0">
                          <a:solidFill>
                            <a:srgbClr val="D8DED8"/>
                          </a:solidFill>
                          <a:latin typeface="Calibri"/>
                        </a:rPr>
                        <a:t>0.292 ± 0.009</a:t>
                      </a:r>
                    </a:p>
                  </a:txBody>
                  <a:tcPr marL="91440" marR="73152" marT="18288" marB="18288" anchor="ctr">
                    <a:solidFill>
                      <a:srgbClr val="223522"/>
                    </a:solidFill>
                  </a:tcPr>
                </a:tc>
                <a:tc>
                  <a:txBody>
                    <a:bodyPr/>
                    <a:lstStyle/>
                    <a:p>
                      <a:pPr algn="r"/>
                      <a:r>
                        <a:rPr sz="1350" b="0">
                          <a:solidFill>
                            <a:srgbClr val="D8DED8"/>
                          </a:solidFill>
                          <a:latin typeface="Calibri"/>
                        </a:rPr>
                        <a:t>-0.108 ± 0.015</a:t>
                      </a:r>
                    </a:p>
                  </a:txBody>
                  <a:tcPr marL="91440" marR="73152" marT="18288" marB="18288" anchor="ctr">
                    <a:solidFill>
                      <a:srgbClr val="223522"/>
                    </a:solidFill>
                  </a:tcPr>
                </a:tc>
                <a:tc>
                  <a:txBody>
                    <a:bodyPr/>
                    <a:lstStyle/>
                    <a:p>
                      <a:pPr algn="r"/>
                      <a:r>
                        <a:rPr sz="1350" b="0">
                          <a:solidFill>
                            <a:srgbClr val="D8DED8"/>
                          </a:solidFill>
                          <a:latin typeface="Calibri"/>
                        </a:rPr>
                        <a:t>1,113</a:t>
                      </a:r>
                    </a:p>
                  </a:txBody>
                  <a:tcPr marL="91440" marR="73152" marT="18288" marB="18288" anchor="ctr">
                    <a:solidFill>
                      <a:srgbClr val="223522"/>
                    </a:solidFill>
                  </a:tcPr>
                </a:tc>
                <a:tc>
                  <a:txBody>
                    <a:bodyPr/>
                    <a:lstStyle/>
                    <a:p>
                      <a:pPr algn="r"/>
                      <a:r>
                        <a:rPr sz="1350" b="0">
                          <a:solidFill>
                            <a:srgbClr val="D8DED8"/>
                          </a:solidFill>
                          <a:latin typeface="Calibri"/>
                        </a:rPr>
                        <a:t>5</a:t>
                      </a:r>
                    </a:p>
                  </a:txBody>
                  <a:tcPr marL="91440" marR="73152" marT="18288" marB="18288" anchor="ctr">
                    <a:solidFill>
                      <a:srgbClr val="223522"/>
                    </a:solidFill>
                  </a:tcPr>
                </a:tc>
              </a:tr>
            </a:tbl>
          </a:graphicData>
        </a:graphic>
      </p:graphicFrame>
      <p:sp>
        <p:nvSpPr>
          <p:cNvPr id="6" name="TextBox 5"/>
          <p:cNvSpPr txBox="1"/>
          <p:nvPr/>
        </p:nvSpPr>
        <p:spPr>
          <a:xfrm>
            <a:off x="658368" y="5230368"/>
            <a:ext cx="10874959" cy="731520"/>
          </a:xfrm>
          <a:prstGeom prst="rect">
            <a:avLst/>
          </a:prstGeom>
          <a:noFill/>
        </p:spPr>
        <p:txBody>
          <a:bodyPr wrap="square" lIns="0" rIns="0" tIns="0" bIns="0">
            <a:spAutoFit/>
          </a:bodyPr>
          <a:lstStyle/>
          <a:p>
            <a:pPr algn="l">
              <a:lnSpc>
                <a:spcPct val="112000"/>
              </a:lnSpc>
            </a:pPr>
            <a:r>
              <a:rPr sz="1500" b="0">
                <a:solidFill>
                  <a:srgbClr val="D8DED8"/>
                </a:solidFill>
                <a:latin typeface="Calibri"/>
              </a:rPr>
              <a:t>The sentence that must accompany this table. Federated methods trade accuracy for cross-client uniformity. Centralised (0.448) and local-only (0.391) beat FedAvg (0.295) and FedProx (0.292) because state-level heterogeneity dominates this panel; FedPer recovers accuracy (0.364) precisely by declining to average the head. Read without this sentence the table looks like a failed federation. Read with it, the ordering is the expected consequence of strongly non-IID data, and is itself the finding.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B1C"/>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223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82880"/>
            <a:ext cx="10058400" cy="237744"/>
          </a:xfrm>
          <a:prstGeom prst="rect">
            <a:avLst/>
          </a:prstGeom>
          <a:noFill/>
        </p:spPr>
        <p:txBody>
          <a:bodyPr wrap="square" lIns="0" rIns="0" tIns="0" bIns="0">
            <a:spAutoFit/>
          </a:bodyPr>
          <a:lstStyle/>
          <a:p>
            <a:pPr algn="l">
              <a:lnSpc>
                <a:spcPct val="100000"/>
              </a:lnSpc>
            </a:pPr>
            <a:r>
              <a:rPr sz="1100" b="1">
                <a:solidFill>
                  <a:srgbClr val="97BC62"/>
                </a:solidFill>
                <a:latin typeface="Calibri"/>
              </a:rPr>
              <a:t>R3 · SOLUTION EFFECTIVENESS</a:t>
            </a:r>
          </a:p>
        </p:txBody>
      </p:sp>
      <p:sp>
        <p:nvSpPr>
          <p:cNvPr id="4" name="TextBox 3"/>
          <p:cNvSpPr txBox="1"/>
          <p:nvPr/>
        </p:nvSpPr>
        <p:spPr>
          <a:xfrm>
            <a:off x="658368" y="420624"/>
            <a:ext cx="10881360" cy="457200"/>
          </a:xfrm>
          <a:prstGeom prst="rect">
            <a:avLst/>
          </a:prstGeom>
          <a:noFill/>
        </p:spPr>
        <p:txBody>
          <a:bodyPr wrap="square" lIns="0" rIns="0" tIns="0" bIns="0">
            <a:spAutoFit/>
          </a:bodyPr>
          <a:lstStyle/>
          <a:p>
            <a:pPr algn="l">
              <a:lnSpc>
                <a:spcPct val="100000"/>
              </a:lnSpc>
            </a:pPr>
            <a:r>
              <a:rPr sz="2500" b="1">
                <a:solidFill>
                  <a:srgbClr val="D8DED8"/>
                </a:solidFill>
                <a:latin typeface="Cambria"/>
              </a:rPr>
              <a:t>Do federated explanations agree with centralised ones?</a:t>
            </a:r>
          </a:p>
        </p:txBody>
      </p:sp>
      <p:graphicFrame>
        <p:nvGraphicFramePr>
          <p:cNvPr id="5" name="Table 4"/>
          <p:cNvGraphicFramePr>
            <a:graphicFrameLocks noGrp="1"/>
          </p:cNvGraphicFramePr>
          <p:nvPr/>
        </p:nvGraphicFramePr>
        <p:xfrm>
          <a:off x="658368" y="1325880"/>
          <a:ext cx="10874957" cy="2286000"/>
        </p:xfrm>
        <a:graphic>
          <a:graphicData uri="http://schemas.openxmlformats.org/drawingml/2006/table">
            <a:tbl>
              <a:tblPr>
                <a:tableStyleId>{5C22544A-7EE6-4342-B048-85BDC9FD1C3A}</a:tableStyleId>
              </a:tblPr>
              <a:tblGrid>
                <a:gridCol w="3711295"/>
                <a:gridCol w="2157729"/>
                <a:gridCol w="2244039"/>
                <a:gridCol w="1812493"/>
                <a:gridCol w="949401"/>
              </a:tblGrid>
              <a:tr h="457200">
                <a:tc>
                  <a:txBody>
                    <a:bodyPr/>
                    <a:lstStyle/>
                    <a:p>
                      <a:pPr algn="l"/>
                      <a:r>
                        <a:rPr sz="1350" b="1">
                          <a:solidFill>
                            <a:srgbClr val="D8DED8"/>
                          </a:solidFill>
                          <a:latin typeface="Calibri"/>
                        </a:rPr>
                        <a:t>Comparison</a:t>
                      </a:r>
                    </a:p>
                  </a:txBody>
                  <a:tcPr marL="91440" marR="73152" marT="18288" marB="18288" anchor="ctr">
                    <a:solidFill>
                      <a:srgbClr val="2C5F2D"/>
                    </a:solidFill>
                  </a:tcPr>
                </a:tc>
                <a:tc>
                  <a:txBody>
                    <a:bodyPr/>
                    <a:lstStyle/>
                    <a:p>
                      <a:pPr algn="r"/>
                      <a:r>
                        <a:rPr sz="1350" b="1">
                          <a:solidFill>
                            <a:srgbClr val="D8DED8"/>
                          </a:solidFill>
                          <a:latin typeface="Calibri"/>
                        </a:rPr>
                        <a:t>Kendall τ</a:t>
                      </a:r>
                    </a:p>
                  </a:txBody>
                  <a:tcPr marL="91440" marR="73152" marT="18288" marB="18288" anchor="ctr">
                    <a:solidFill>
                      <a:srgbClr val="2C5F2D"/>
                    </a:solidFill>
                  </a:tcPr>
                </a:tc>
                <a:tc>
                  <a:txBody>
                    <a:bodyPr/>
                    <a:lstStyle/>
                    <a:p>
                      <a:pPr algn="r"/>
                      <a:r>
                        <a:rPr sz="1350" b="1">
                          <a:solidFill>
                            <a:srgbClr val="D8DED8"/>
                          </a:solidFill>
                          <a:latin typeface="Calibri"/>
                        </a:rPr>
                        <a:t>95% interval</a:t>
                      </a:r>
                    </a:p>
                  </a:txBody>
                  <a:tcPr marL="91440" marR="73152" marT="18288" marB="18288" anchor="ctr">
                    <a:solidFill>
                      <a:srgbClr val="2C5F2D"/>
                    </a:solidFill>
                  </a:tcPr>
                </a:tc>
                <a:tc>
                  <a:txBody>
                    <a:bodyPr/>
                    <a:lstStyle/>
                    <a:p>
                      <a:pPr algn="r"/>
                      <a:r>
                        <a:rPr sz="1350" b="1">
                          <a:solidFill>
                            <a:srgbClr val="D8DED8"/>
                          </a:solidFill>
                          <a:latin typeface="Calibri"/>
                        </a:rPr>
                        <a:t>Top-10 Jaccard</a:t>
                      </a:r>
                    </a:p>
                  </a:txBody>
                  <a:tcPr marL="91440" marR="73152" marT="18288" marB="18288" anchor="ctr">
                    <a:solidFill>
                      <a:srgbClr val="2C5F2D"/>
                    </a:solidFill>
                  </a:tcPr>
                </a:tc>
                <a:tc>
                  <a:txBody>
                    <a:bodyPr/>
                    <a:lstStyle/>
                    <a:p>
                      <a:pPr algn="r"/>
                      <a:r>
                        <a:rPr sz="1350" b="1">
                          <a:solidFill>
                            <a:srgbClr val="D8DED8"/>
                          </a:solidFill>
                          <a:latin typeface="Calibri"/>
                        </a:rPr>
                        <a:t>Pairs</a:t>
                      </a:r>
                    </a:p>
                  </a:txBody>
                  <a:tcPr marL="91440" marR="73152" marT="18288" marB="18288" anchor="ctr">
                    <a:solidFill>
                      <a:srgbClr val="2C5F2D"/>
                    </a:solidFill>
                  </a:tcPr>
                </a:tc>
              </a:tr>
              <a:tr h="457200">
                <a:tc>
                  <a:txBody>
                    <a:bodyPr/>
                    <a:lstStyle/>
                    <a:p>
                      <a:pPr algn="l"/>
                      <a:r>
                        <a:rPr sz="1350" b="1">
                          <a:solidFill>
                            <a:srgbClr val="97BC62"/>
                          </a:solidFill>
                          <a:latin typeface="Calibri"/>
                        </a:rPr>
                        <a:t>Seed control (centralised vs itself)</a:t>
                      </a:r>
                    </a:p>
                  </a:txBody>
                  <a:tcPr marL="91440" marR="73152" marT="18288" marB="18288" anchor="ctr">
                    <a:solidFill>
                      <a:srgbClr val="223522"/>
                    </a:solidFill>
                  </a:tcPr>
                </a:tc>
                <a:tc>
                  <a:txBody>
                    <a:bodyPr/>
                    <a:lstStyle/>
                    <a:p>
                      <a:pPr algn="r"/>
                      <a:r>
                        <a:rPr sz="1350" b="0">
                          <a:solidFill>
                            <a:srgbClr val="D8DED8"/>
                          </a:solidFill>
                          <a:latin typeface="Calibri"/>
                        </a:rPr>
                        <a:t>0.719 ± 0.059</a:t>
                      </a:r>
                    </a:p>
                  </a:txBody>
                  <a:tcPr marL="91440" marR="73152" marT="18288" marB="18288" anchor="ctr">
                    <a:solidFill>
                      <a:srgbClr val="223522"/>
                    </a:solidFill>
                  </a:tcPr>
                </a:tc>
                <a:tc>
                  <a:txBody>
                    <a:bodyPr/>
                    <a:lstStyle/>
                    <a:p>
                      <a:pPr algn="r"/>
                      <a:r>
                        <a:rPr sz="1350" b="0">
                          <a:solidFill>
                            <a:srgbClr val="D8DED8"/>
                          </a:solidFill>
                          <a:latin typeface="Calibri"/>
                        </a:rPr>
                        <a:t>[0.684, 0.753]</a:t>
                      </a:r>
                    </a:p>
                  </a:txBody>
                  <a:tcPr marL="91440" marR="73152" marT="18288" marB="18288" anchor="ctr">
                    <a:solidFill>
                      <a:srgbClr val="223522"/>
                    </a:solidFill>
                  </a:tcPr>
                </a:tc>
                <a:tc>
                  <a:txBody>
                    <a:bodyPr/>
                    <a:lstStyle/>
                    <a:p>
                      <a:pPr algn="r"/>
                      <a:r>
                        <a:rPr sz="1350" b="0">
                          <a:solidFill>
                            <a:srgbClr val="D8DED8"/>
                          </a:solidFill>
                          <a:latin typeface="Calibri"/>
                        </a:rPr>
                        <a:t>0.631</a:t>
                      </a:r>
                    </a:p>
                  </a:txBody>
                  <a:tcPr marL="91440" marR="73152" marT="18288" marB="18288" anchor="ctr">
                    <a:solidFill>
                      <a:srgbClr val="223522"/>
                    </a:solidFill>
                  </a:tcPr>
                </a:tc>
                <a:tc>
                  <a:txBody>
                    <a:bodyPr/>
                    <a:lstStyle/>
                    <a:p>
                      <a:pPr algn="r"/>
                      <a:r>
                        <a:rPr sz="1350" b="0">
                          <a:solidFill>
                            <a:srgbClr val="D8DED8"/>
                          </a:solidFill>
                          <a:latin typeface="Calibri"/>
                        </a:rPr>
                        <a:t>10</a:t>
                      </a:r>
                    </a:p>
                  </a:txBody>
                  <a:tcPr marL="91440" marR="73152" marT="18288" marB="18288" anchor="ctr">
                    <a:solidFill>
                      <a:srgbClr val="223522"/>
                    </a:solidFill>
                  </a:tcPr>
                </a:tc>
              </a:tr>
              <a:tr h="457200">
                <a:tc>
                  <a:txBody>
                    <a:bodyPr/>
                    <a:lstStyle/>
                    <a:p>
                      <a:pPr algn="l"/>
                      <a:r>
                        <a:rPr sz="1350" b="1">
                          <a:solidFill>
                            <a:srgbClr val="D8DED8"/>
                          </a:solidFill>
                          <a:latin typeface="Calibri"/>
                        </a:rPr>
                        <a:t>FedAvg</a:t>
                      </a:r>
                    </a:p>
                  </a:txBody>
                  <a:tcPr marL="91440" marR="73152" marT="18288" marB="18288" anchor="ctr">
                    <a:solidFill>
                      <a:srgbClr val="223522"/>
                    </a:solidFill>
                  </a:tcPr>
                </a:tc>
                <a:tc>
                  <a:txBody>
                    <a:bodyPr/>
                    <a:lstStyle/>
                    <a:p>
                      <a:pPr algn="r"/>
                      <a:r>
                        <a:rPr sz="1350" b="0">
                          <a:solidFill>
                            <a:srgbClr val="D8DED8"/>
                          </a:solidFill>
                          <a:latin typeface="Calibri"/>
                        </a:rPr>
                        <a:t>0.387 ± 0.082</a:t>
                      </a:r>
                    </a:p>
                  </a:txBody>
                  <a:tcPr marL="91440" marR="73152" marT="18288" marB="18288" anchor="ctr">
                    <a:solidFill>
                      <a:srgbClr val="223522"/>
                    </a:solidFill>
                  </a:tcPr>
                </a:tc>
                <a:tc>
                  <a:txBody>
                    <a:bodyPr/>
                    <a:lstStyle/>
                    <a:p>
                      <a:pPr algn="r"/>
                      <a:r>
                        <a:rPr sz="1350" b="0">
                          <a:solidFill>
                            <a:srgbClr val="D8DED8"/>
                          </a:solidFill>
                          <a:latin typeface="Calibri"/>
                        </a:rPr>
                        <a:t>[0.315, 0.460]</a:t>
                      </a:r>
                    </a:p>
                  </a:txBody>
                  <a:tcPr marL="91440" marR="73152" marT="18288" marB="18288" anchor="ctr">
                    <a:solidFill>
                      <a:srgbClr val="223522"/>
                    </a:solidFill>
                  </a:tcPr>
                </a:tc>
                <a:tc>
                  <a:txBody>
                    <a:bodyPr/>
                    <a:lstStyle/>
                    <a:p>
                      <a:pPr algn="r"/>
                      <a:r>
                        <a:rPr sz="1350" b="0">
                          <a:solidFill>
                            <a:srgbClr val="D8DED8"/>
                          </a:solidFill>
                          <a:latin typeface="Calibri"/>
                        </a:rPr>
                        <a:t>0.460</a:t>
                      </a:r>
                    </a:p>
                  </a:txBody>
                  <a:tcPr marL="91440" marR="73152" marT="18288" marB="18288" anchor="ctr">
                    <a:solidFill>
                      <a:srgbClr val="223522"/>
                    </a:solidFill>
                  </a:tcPr>
                </a:tc>
                <a:tc>
                  <a:txBody>
                    <a:bodyPr/>
                    <a:lstStyle/>
                    <a:p>
                      <a:pPr algn="r"/>
                      <a:r>
                        <a:rPr sz="1350" b="0">
                          <a:solidFill>
                            <a:srgbClr val="D8DED8"/>
                          </a:solidFill>
                          <a:latin typeface="Calibri"/>
                        </a:rPr>
                        <a:t>5</a:t>
                      </a:r>
                    </a:p>
                  </a:txBody>
                  <a:tcPr marL="91440" marR="73152" marT="18288" marB="18288" anchor="ctr">
                    <a:solidFill>
                      <a:srgbClr val="223522"/>
                    </a:solidFill>
                  </a:tcPr>
                </a:tc>
              </a:tr>
              <a:tr h="457200">
                <a:tc>
                  <a:txBody>
                    <a:bodyPr/>
                    <a:lstStyle/>
                    <a:p>
                      <a:pPr algn="l"/>
                      <a:r>
                        <a:rPr sz="1350" b="1">
                          <a:solidFill>
                            <a:srgbClr val="D8DED8"/>
                          </a:solidFill>
                          <a:latin typeface="Calibri"/>
                        </a:rPr>
                        <a:t>FedProx</a:t>
                      </a:r>
                    </a:p>
                  </a:txBody>
                  <a:tcPr marL="91440" marR="73152" marT="18288" marB="18288" anchor="ctr">
                    <a:solidFill>
                      <a:srgbClr val="223522"/>
                    </a:solidFill>
                  </a:tcPr>
                </a:tc>
                <a:tc>
                  <a:txBody>
                    <a:bodyPr/>
                    <a:lstStyle/>
                    <a:p>
                      <a:pPr algn="r"/>
                      <a:r>
                        <a:rPr sz="1350" b="0">
                          <a:solidFill>
                            <a:srgbClr val="D8DED8"/>
                          </a:solidFill>
                          <a:latin typeface="Calibri"/>
                        </a:rPr>
                        <a:t>0.380 ± 0.077</a:t>
                      </a:r>
                    </a:p>
                  </a:txBody>
                  <a:tcPr marL="91440" marR="73152" marT="18288" marB="18288" anchor="ctr">
                    <a:solidFill>
                      <a:srgbClr val="223522"/>
                    </a:solidFill>
                  </a:tcPr>
                </a:tc>
                <a:tc>
                  <a:txBody>
                    <a:bodyPr/>
                    <a:lstStyle/>
                    <a:p>
                      <a:pPr algn="r"/>
                      <a:r>
                        <a:rPr sz="1350" b="0">
                          <a:solidFill>
                            <a:srgbClr val="D8DED8"/>
                          </a:solidFill>
                          <a:latin typeface="Calibri"/>
                        </a:rPr>
                        <a:t>[0.312, 0.448]</a:t>
                      </a:r>
                    </a:p>
                  </a:txBody>
                  <a:tcPr marL="91440" marR="73152" marT="18288" marB="18288" anchor="ctr">
                    <a:solidFill>
                      <a:srgbClr val="223522"/>
                    </a:solidFill>
                  </a:tcPr>
                </a:tc>
                <a:tc>
                  <a:txBody>
                    <a:bodyPr/>
                    <a:lstStyle/>
                    <a:p>
                      <a:pPr algn="r"/>
                      <a:r>
                        <a:rPr sz="1350" b="0">
                          <a:solidFill>
                            <a:srgbClr val="D8DED8"/>
                          </a:solidFill>
                          <a:latin typeface="Calibri"/>
                        </a:rPr>
                        <a:t>0.441</a:t>
                      </a:r>
                    </a:p>
                  </a:txBody>
                  <a:tcPr marL="91440" marR="73152" marT="18288" marB="18288" anchor="ctr">
                    <a:solidFill>
                      <a:srgbClr val="223522"/>
                    </a:solidFill>
                  </a:tcPr>
                </a:tc>
                <a:tc>
                  <a:txBody>
                    <a:bodyPr/>
                    <a:lstStyle/>
                    <a:p>
                      <a:pPr algn="r"/>
                      <a:r>
                        <a:rPr sz="1350" b="0">
                          <a:solidFill>
                            <a:srgbClr val="D8DED8"/>
                          </a:solidFill>
                          <a:latin typeface="Calibri"/>
                        </a:rPr>
                        <a:t>5</a:t>
                      </a:r>
                    </a:p>
                  </a:txBody>
                  <a:tcPr marL="91440" marR="73152" marT="18288" marB="18288" anchor="ctr">
                    <a:solidFill>
                      <a:srgbClr val="223522"/>
                    </a:solidFill>
                  </a:tcPr>
                </a:tc>
              </a:tr>
              <a:tr h="457200">
                <a:tc>
                  <a:txBody>
                    <a:bodyPr/>
                    <a:lstStyle/>
                    <a:p>
                      <a:pPr algn="l"/>
                      <a:r>
                        <a:rPr sz="1350" b="1">
                          <a:solidFill>
                            <a:srgbClr val="D8DED8"/>
                          </a:solidFill>
                          <a:latin typeface="Calibri"/>
                        </a:rPr>
                        <a:t>FedPer</a:t>
                      </a:r>
                    </a:p>
                  </a:txBody>
                  <a:tcPr marL="91440" marR="73152" marT="18288" marB="18288" anchor="ctr">
                    <a:solidFill>
                      <a:srgbClr val="223522"/>
                    </a:solidFill>
                  </a:tcPr>
                </a:tc>
                <a:tc>
                  <a:txBody>
                    <a:bodyPr/>
                    <a:lstStyle/>
                    <a:p>
                      <a:pPr algn="r"/>
                      <a:r>
                        <a:rPr sz="1350" b="0">
                          <a:solidFill>
                            <a:srgbClr val="D8DED8"/>
                          </a:solidFill>
                          <a:latin typeface="Calibri"/>
                        </a:rPr>
                        <a:t>0.508 ± 0.042</a:t>
                      </a:r>
                    </a:p>
                  </a:txBody>
                  <a:tcPr marL="91440" marR="73152" marT="18288" marB="18288" anchor="ctr">
                    <a:solidFill>
                      <a:srgbClr val="223522"/>
                    </a:solidFill>
                  </a:tcPr>
                </a:tc>
                <a:tc>
                  <a:txBody>
                    <a:bodyPr/>
                    <a:lstStyle/>
                    <a:p>
                      <a:pPr algn="r"/>
                      <a:r>
                        <a:rPr sz="1350" b="0">
                          <a:solidFill>
                            <a:srgbClr val="D8DED8"/>
                          </a:solidFill>
                          <a:latin typeface="Calibri"/>
                        </a:rPr>
                        <a:t>[0.471, 0.545]</a:t>
                      </a:r>
                    </a:p>
                  </a:txBody>
                  <a:tcPr marL="91440" marR="73152" marT="18288" marB="18288" anchor="ctr">
                    <a:solidFill>
                      <a:srgbClr val="223522"/>
                    </a:solidFill>
                  </a:tcPr>
                </a:tc>
                <a:tc>
                  <a:txBody>
                    <a:bodyPr/>
                    <a:lstStyle/>
                    <a:p>
                      <a:pPr algn="r"/>
                      <a:r>
                        <a:rPr sz="1350" b="0">
                          <a:solidFill>
                            <a:srgbClr val="D8DED8"/>
                          </a:solidFill>
                          <a:latin typeface="Calibri"/>
                        </a:rPr>
                        <a:t>0.546</a:t>
                      </a:r>
                    </a:p>
                  </a:txBody>
                  <a:tcPr marL="91440" marR="73152" marT="18288" marB="18288" anchor="ctr">
                    <a:solidFill>
                      <a:srgbClr val="223522"/>
                    </a:solidFill>
                  </a:tcPr>
                </a:tc>
                <a:tc>
                  <a:txBody>
                    <a:bodyPr/>
                    <a:lstStyle/>
                    <a:p>
                      <a:pPr algn="r"/>
                      <a:r>
                        <a:rPr sz="1350" b="0">
                          <a:solidFill>
                            <a:srgbClr val="D8DED8"/>
                          </a:solidFill>
                          <a:latin typeface="Calibri"/>
                        </a:rPr>
                        <a:t>5</a:t>
                      </a:r>
                    </a:p>
                  </a:txBody>
                  <a:tcPr marL="91440" marR="73152" marT="18288" marB="18288" anchor="ctr">
                    <a:solidFill>
                      <a:srgbClr val="223522"/>
                    </a:solidFill>
                  </a:tcPr>
                </a:tc>
              </a:tr>
            </a:tbl>
          </a:graphicData>
        </a:graphic>
      </p:graphicFrame>
      <p:sp>
        <p:nvSpPr>
          <p:cNvPr id="6" name="TextBox 5"/>
          <p:cNvSpPr txBox="1"/>
          <p:nvPr/>
        </p:nvSpPr>
        <p:spPr>
          <a:xfrm>
            <a:off x="658368" y="3922776"/>
            <a:ext cx="10874959" cy="1280160"/>
          </a:xfrm>
          <a:prstGeom prst="rect">
            <a:avLst/>
          </a:prstGeom>
          <a:noFill/>
        </p:spPr>
        <p:txBody>
          <a:bodyPr wrap="square" lIns="0" rIns="0" tIns="0" bIns="0">
            <a:spAutoFit/>
          </a:bodyPr>
          <a:lstStyle/>
          <a:p>
            <a:pPr algn="l">
              <a:lnSpc>
                <a:spcPct val="122000"/>
              </a:lnSpc>
            </a:pPr>
            <a:r>
              <a:rPr sz="1500" b="0">
                <a:solidFill>
                  <a:srgbClr val="D8DED8"/>
                </a:solidFill>
                <a:latin typeface="Calibri"/>
              </a:rPr>
              <a:t>The control is the contribution. Two centralised models that differ only by random seed agree at τ = 0.719, not 1.0. That is the ceiling any federated comparison could reach, so a federated τ is only meaningful as a fraction of it. Without this row, every federated number below would look like a failure to reproduce the explanation; with it, the question becomes how much of the achievable agreement survives federation.</a:t>
            </a:r>
          </a:p>
        </p:txBody>
      </p:sp>
      <p:sp>
        <p:nvSpPr>
          <p:cNvPr id="7" name="TextBox 6"/>
          <p:cNvSpPr txBox="1"/>
          <p:nvPr/>
        </p:nvSpPr>
        <p:spPr>
          <a:xfrm>
            <a:off x="658368" y="5532120"/>
            <a:ext cx="10874959" cy="274320"/>
          </a:xfrm>
          <a:prstGeom prst="rect">
            <a:avLst/>
          </a:prstGeom>
          <a:noFill/>
        </p:spPr>
        <p:txBody>
          <a:bodyPr wrap="square" lIns="0" rIns="0" tIns="0" bIns="0">
            <a:spAutoFit/>
          </a:bodyPr>
          <a:lstStyle/>
          <a:p>
            <a:pPr algn="l">
              <a:lnSpc>
                <a:spcPct val="100000"/>
              </a:lnSpc>
            </a:pPr>
            <a:r>
              <a:rPr sz="1150" b="1">
                <a:solidFill>
                  <a:srgbClr val="97BC62"/>
                </a:solidFill>
                <a:latin typeface="Calibri"/>
              </a:rPr>
              <a:t>AGRONOMIC PLAUSIBILITY · PASS</a:t>
            </a:r>
          </a:p>
        </p:txBody>
      </p:sp>
      <p:sp>
        <p:nvSpPr>
          <p:cNvPr id="8" name="TextBox 7"/>
          <p:cNvSpPr txBox="1"/>
          <p:nvPr/>
        </p:nvSpPr>
        <p:spPr>
          <a:xfrm>
            <a:off x="658368" y="5870448"/>
            <a:ext cx="10874959" cy="822960"/>
          </a:xfrm>
          <a:prstGeom prst="rect">
            <a:avLst/>
          </a:prstGeom>
          <a:noFill/>
        </p:spPr>
        <p:txBody>
          <a:bodyPr wrap="square" lIns="0" rIns="0" tIns="0" bIns="0">
            <a:spAutoFit/>
          </a:bodyPr>
          <a:lstStyle/>
          <a:p>
            <a:pPr algn="l">
              <a:lnSpc>
                <a:spcPct val="116000"/>
              </a:lnSpc>
            </a:pPr>
            <a:r>
              <a:rPr sz="1300" b="0">
                <a:solidFill>
                  <a:srgbClr val="A8B4A8"/>
                </a:solidFill>
                <a:latin typeface="Calibri"/>
              </a:rPr>
              <a:t>3 of the top 10 features are monsoon months. Top features: irrigation ratio, nitrogen consumption, gross cropped area, phosphate consumption, gross irrigated area, jul precipitation. Federated attributions use per-client baselines because no client may access another's data; centralised uses the same strategy for a fair comparison.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B1C"/>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223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82880"/>
            <a:ext cx="10058400" cy="237744"/>
          </a:xfrm>
          <a:prstGeom prst="rect">
            <a:avLst/>
          </a:prstGeom>
          <a:noFill/>
        </p:spPr>
        <p:txBody>
          <a:bodyPr wrap="square" lIns="0" rIns="0" tIns="0" bIns="0">
            <a:spAutoFit/>
          </a:bodyPr>
          <a:lstStyle/>
          <a:p>
            <a:pPr algn="l">
              <a:lnSpc>
                <a:spcPct val="100000"/>
              </a:lnSpc>
            </a:pPr>
            <a:r>
              <a:rPr sz="1100" b="1">
                <a:solidFill>
                  <a:srgbClr val="97BC62"/>
                </a:solidFill>
                <a:latin typeface="Calibri"/>
              </a:rPr>
              <a:t>R3 · SOLUTION EFFECTIVENESS</a:t>
            </a:r>
          </a:p>
        </p:txBody>
      </p:sp>
      <p:sp>
        <p:nvSpPr>
          <p:cNvPr id="4" name="TextBox 3"/>
          <p:cNvSpPr txBox="1"/>
          <p:nvPr/>
        </p:nvSpPr>
        <p:spPr>
          <a:xfrm>
            <a:off x="658368" y="420624"/>
            <a:ext cx="10881360" cy="457200"/>
          </a:xfrm>
          <a:prstGeom prst="rect">
            <a:avLst/>
          </a:prstGeom>
          <a:noFill/>
        </p:spPr>
        <p:txBody>
          <a:bodyPr wrap="square" lIns="0" rIns="0" tIns="0" bIns="0">
            <a:spAutoFit/>
          </a:bodyPr>
          <a:lstStyle/>
          <a:p>
            <a:pPr algn="l">
              <a:lnSpc>
                <a:spcPct val="100000"/>
              </a:lnSpc>
            </a:pPr>
            <a:r>
              <a:rPr sz="2500" b="1">
                <a:solidFill>
                  <a:srgbClr val="D8DED8"/>
                </a:solidFill>
                <a:latin typeface="Cambria"/>
              </a:rPr>
              <a:t>Do the explanations actually drive the prediction?</a:t>
            </a:r>
          </a:p>
        </p:txBody>
      </p:sp>
      <p:graphicFrame>
        <p:nvGraphicFramePr>
          <p:cNvPr id="5" name="Table 4"/>
          <p:cNvGraphicFramePr>
            <a:graphicFrameLocks noGrp="1"/>
          </p:cNvGraphicFramePr>
          <p:nvPr/>
        </p:nvGraphicFramePr>
        <p:xfrm>
          <a:off x="658368" y="1371600"/>
          <a:ext cx="10874957" cy="2286000"/>
        </p:xfrm>
        <a:graphic>
          <a:graphicData uri="http://schemas.openxmlformats.org/drawingml/2006/table">
            <a:tbl>
              <a:tblPr>
                <a:tableStyleId>{5C22544A-7EE6-4342-B048-85BDC9FD1C3A}</a:tableStyleId>
              </a:tblPr>
              <a:tblGrid>
                <a:gridCol w="2396177"/>
                <a:gridCol w="2396177"/>
                <a:gridCol w="2396177"/>
                <a:gridCol w="1843213"/>
                <a:gridCol w="1843213"/>
              </a:tblGrid>
              <a:tr h="457200">
                <a:tc>
                  <a:txBody>
                    <a:bodyPr/>
                    <a:lstStyle/>
                    <a:p>
                      <a:pPr algn="l"/>
                      <a:r>
                        <a:rPr sz="1400" b="1">
                          <a:solidFill>
                            <a:srgbClr val="D8DED8"/>
                          </a:solidFill>
                          <a:latin typeface="Calibri"/>
                        </a:rPr>
                        <a:t>Arm</a:t>
                      </a:r>
                    </a:p>
                  </a:txBody>
                  <a:tcPr marL="91440" marR="73152" marT="18288" marB="18288" anchor="ctr">
                    <a:solidFill>
                      <a:srgbClr val="2C5F2D"/>
                    </a:solidFill>
                  </a:tcPr>
                </a:tc>
                <a:tc>
                  <a:txBody>
                    <a:bodyPr/>
                    <a:lstStyle/>
                    <a:p>
                      <a:pPr algn="r"/>
                      <a:r>
                        <a:rPr sz="1400" b="1">
                          <a:solidFill>
                            <a:srgbClr val="D8DED8"/>
                          </a:solidFill>
                          <a:latin typeface="Calibri"/>
                        </a:rPr>
                        <a:t>AOPC top-k</a:t>
                      </a:r>
                    </a:p>
                  </a:txBody>
                  <a:tcPr marL="91440" marR="73152" marT="18288" marB="18288" anchor="ctr">
                    <a:solidFill>
                      <a:srgbClr val="2C5F2D"/>
                    </a:solidFill>
                  </a:tcPr>
                </a:tc>
                <a:tc>
                  <a:txBody>
                    <a:bodyPr/>
                    <a:lstStyle/>
                    <a:p>
                      <a:pPr algn="r"/>
                      <a:r>
                        <a:rPr sz="1400" b="1">
                          <a:solidFill>
                            <a:srgbClr val="D8DED8"/>
                          </a:solidFill>
                          <a:latin typeface="Calibri"/>
                        </a:rPr>
                        <a:t>AOPC random</a:t>
                      </a:r>
                    </a:p>
                  </a:txBody>
                  <a:tcPr marL="91440" marR="73152" marT="18288" marB="18288" anchor="ctr">
                    <a:solidFill>
                      <a:srgbClr val="2C5F2D"/>
                    </a:solidFill>
                  </a:tcPr>
                </a:tc>
                <a:tc>
                  <a:txBody>
                    <a:bodyPr/>
                    <a:lstStyle/>
                    <a:p>
                      <a:pPr algn="r"/>
                      <a:r>
                        <a:rPr sz="1400" b="1">
                          <a:solidFill>
                            <a:srgbClr val="D8DED8"/>
                          </a:solidFill>
                          <a:latin typeface="Calibri"/>
                        </a:rPr>
                        <a:t>Ratio</a:t>
                      </a:r>
                    </a:p>
                  </a:txBody>
                  <a:tcPr marL="91440" marR="73152" marT="18288" marB="18288" anchor="ctr">
                    <a:solidFill>
                      <a:srgbClr val="2C5F2D"/>
                    </a:solidFill>
                  </a:tcPr>
                </a:tc>
                <a:tc>
                  <a:txBody>
                    <a:bodyPr/>
                    <a:lstStyle/>
                    <a:p>
                      <a:pPr algn="r"/>
                      <a:r>
                        <a:rPr sz="1400" b="1">
                          <a:solidFill>
                            <a:srgbClr val="D8DED8"/>
                          </a:solidFill>
                          <a:latin typeface="Calibri"/>
                        </a:rPr>
                        <a:t>Verdict</a:t>
                      </a:r>
                    </a:p>
                  </a:txBody>
                  <a:tcPr marL="91440" marR="73152" marT="18288" marB="18288" anchor="ctr">
                    <a:solidFill>
                      <a:srgbClr val="2C5F2D"/>
                    </a:solidFill>
                  </a:tcPr>
                </a:tc>
              </a:tr>
              <a:tr h="457200">
                <a:tc>
                  <a:txBody>
                    <a:bodyPr/>
                    <a:lstStyle/>
                    <a:p>
                      <a:pPr algn="l"/>
                      <a:r>
                        <a:rPr sz="1400" b="1">
                          <a:solidFill>
                            <a:srgbClr val="D8DED8"/>
                          </a:solidFill>
                          <a:latin typeface="Calibri"/>
                        </a:rPr>
                        <a:t>Centralised</a:t>
                      </a:r>
                    </a:p>
                  </a:txBody>
                  <a:tcPr marL="91440" marR="73152" marT="18288" marB="18288" anchor="ctr">
                    <a:solidFill>
                      <a:srgbClr val="223522"/>
                    </a:solidFill>
                  </a:tcPr>
                </a:tc>
                <a:tc>
                  <a:txBody>
                    <a:bodyPr/>
                    <a:lstStyle/>
                    <a:p>
                      <a:pPr algn="r"/>
                      <a:r>
                        <a:rPr sz="1400" b="0">
                          <a:solidFill>
                            <a:srgbClr val="D8DED8"/>
                          </a:solidFill>
                          <a:latin typeface="Calibri"/>
                        </a:rPr>
                        <a:t>0.484</a:t>
                      </a:r>
                    </a:p>
                  </a:txBody>
                  <a:tcPr marL="91440" marR="73152" marT="18288" marB="18288" anchor="ctr">
                    <a:solidFill>
                      <a:srgbClr val="223522"/>
                    </a:solidFill>
                  </a:tcPr>
                </a:tc>
                <a:tc>
                  <a:txBody>
                    <a:bodyPr/>
                    <a:lstStyle/>
                    <a:p>
                      <a:pPr algn="r"/>
                      <a:r>
                        <a:rPr sz="1400" b="0">
                          <a:solidFill>
                            <a:srgbClr val="D8DED8"/>
                          </a:solidFill>
                          <a:latin typeface="Calibri"/>
                        </a:rPr>
                        <a:t>0.215</a:t>
                      </a:r>
                    </a:p>
                  </a:txBody>
                  <a:tcPr marL="91440" marR="73152" marT="18288" marB="18288" anchor="ctr">
                    <a:solidFill>
                      <a:srgbClr val="223522"/>
                    </a:solidFill>
                  </a:tcPr>
                </a:tc>
                <a:tc>
                  <a:txBody>
                    <a:bodyPr/>
                    <a:lstStyle/>
                    <a:p>
                      <a:pPr algn="r"/>
                      <a:r>
                        <a:rPr sz="1400" b="0">
                          <a:solidFill>
                            <a:srgbClr val="D8DED8"/>
                          </a:solidFill>
                          <a:latin typeface="Calibri"/>
                        </a:rPr>
                        <a:t>2.2×</a:t>
                      </a:r>
                    </a:p>
                  </a:txBody>
                  <a:tcPr marL="91440" marR="73152" marT="18288" marB="18288" anchor="ctr">
                    <a:solidFill>
                      <a:srgbClr val="223522"/>
                    </a:solidFill>
                  </a:tcPr>
                </a:tc>
                <a:tc>
                  <a:txBody>
                    <a:bodyPr/>
                    <a:lstStyle/>
                    <a:p>
                      <a:pPr algn="r"/>
                      <a:r>
                        <a:rPr sz="1400" b="0">
                          <a:solidFill>
                            <a:srgbClr val="D8DED8"/>
                          </a:solidFill>
                          <a:latin typeface="Calibri"/>
                        </a:rPr>
                        <a:t>PASS</a:t>
                      </a:r>
                    </a:p>
                  </a:txBody>
                  <a:tcPr marL="91440" marR="73152" marT="18288" marB="18288" anchor="ctr">
                    <a:solidFill>
                      <a:srgbClr val="223522"/>
                    </a:solidFill>
                  </a:tcPr>
                </a:tc>
              </a:tr>
              <a:tr h="457200">
                <a:tc>
                  <a:txBody>
                    <a:bodyPr/>
                    <a:lstStyle/>
                    <a:p>
                      <a:pPr algn="l"/>
                      <a:r>
                        <a:rPr sz="1400" b="1">
                          <a:solidFill>
                            <a:srgbClr val="D8DED8"/>
                          </a:solidFill>
                          <a:latin typeface="Calibri"/>
                        </a:rPr>
                        <a:t>FedAvg</a:t>
                      </a:r>
                    </a:p>
                  </a:txBody>
                  <a:tcPr marL="91440" marR="73152" marT="18288" marB="18288" anchor="ctr">
                    <a:solidFill>
                      <a:srgbClr val="223522"/>
                    </a:solidFill>
                  </a:tcPr>
                </a:tc>
                <a:tc>
                  <a:txBody>
                    <a:bodyPr/>
                    <a:lstStyle/>
                    <a:p>
                      <a:pPr algn="r"/>
                      <a:r>
                        <a:rPr sz="1400" b="0">
                          <a:solidFill>
                            <a:srgbClr val="D8DED8"/>
                          </a:solidFill>
                          <a:latin typeface="Calibri"/>
                        </a:rPr>
                        <a:t>0.249</a:t>
                      </a:r>
                    </a:p>
                  </a:txBody>
                  <a:tcPr marL="91440" marR="73152" marT="18288" marB="18288" anchor="ctr">
                    <a:solidFill>
                      <a:srgbClr val="223522"/>
                    </a:solidFill>
                  </a:tcPr>
                </a:tc>
                <a:tc>
                  <a:txBody>
                    <a:bodyPr/>
                    <a:lstStyle/>
                    <a:p>
                      <a:pPr algn="r"/>
                      <a:r>
                        <a:rPr sz="1400" b="0">
                          <a:solidFill>
                            <a:srgbClr val="D8DED8"/>
                          </a:solidFill>
                          <a:latin typeface="Calibri"/>
                        </a:rPr>
                        <a:t>0.037</a:t>
                      </a:r>
                    </a:p>
                  </a:txBody>
                  <a:tcPr marL="91440" marR="73152" marT="18288" marB="18288" anchor="ctr">
                    <a:solidFill>
                      <a:srgbClr val="223522"/>
                    </a:solidFill>
                  </a:tcPr>
                </a:tc>
                <a:tc>
                  <a:txBody>
                    <a:bodyPr/>
                    <a:lstStyle/>
                    <a:p>
                      <a:pPr algn="r"/>
                      <a:r>
                        <a:rPr sz="1400" b="0">
                          <a:solidFill>
                            <a:srgbClr val="D8DED8"/>
                          </a:solidFill>
                          <a:latin typeface="Calibri"/>
                        </a:rPr>
                        <a:t>6.8×</a:t>
                      </a:r>
                    </a:p>
                  </a:txBody>
                  <a:tcPr marL="91440" marR="73152" marT="18288" marB="18288" anchor="ctr">
                    <a:solidFill>
                      <a:srgbClr val="223522"/>
                    </a:solidFill>
                  </a:tcPr>
                </a:tc>
                <a:tc>
                  <a:txBody>
                    <a:bodyPr/>
                    <a:lstStyle/>
                    <a:p>
                      <a:pPr algn="r"/>
                      <a:r>
                        <a:rPr sz="1400" b="0">
                          <a:solidFill>
                            <a:srgbClr val="D8DED8"/>
                          </a:solidFill>
                          <a:latin typeface="Calibri"/>
                        </a:rPr>
                        <a:t>PASS</a:t>
                      </a:r>
                    </a:p>
                  </a:txBody>
                  <a:tcPr marL="91440" marR="73152" marT="18288" marB="18288" anchor="ctr">
                    <a:solidFill>
                      <a:srgbClr val="223522"/>
                    </a:solidFill>
                  </a:tcPr>
                </a:tc>
              </a:tr>
              <a:tr h="457200">
                <a:tc>
                  <a:txBody>
                    <a:bodyPr/>
                    <a:lstStyle/>
                    <a:p>
                      <a:pPr algn="l"/>
                      <a:r>
                        <a:rPr sz="1400" b="1">
                          <a:solidFill>
                            <a:srgbClr val="D8DED8"/>
                          </a:solidFill>
                          <a:latin typeface="Calibri"/>
                        </a:rPr>
                        <a:t>FedProx</a:t>
                      </a:r>
                    </a:p>
                  </a:txBody>
                  <a:tcPr marL="91440" marR="73152" marT="18288" marB="18288" anchor="ctr">
                    <a:solidFill>
                      <a:srgbClr val="223522"/>
                    </a:solidFill>
                  </a:tcPr>
                </a:tc>
                <a:tc>
                  <a:txBody>
                    <a:bodyPr/>
                    <a:lstStyle/>
                    <a:p>
                      <a:pPr algn="r"/>
                      <a:r>
                        <a:rPr sz="1400" b="0">
                          <a:solidFill>
                            <a:srgbClr val="D8DED8"/>
                          </a:solidFill>
                          <a:latin typeface="Calibri"/>
                        </a:rPr>
                        <a:t>0.247</a:t>
                      </a:r>
                    </a:p>
                  </a:txBody>
                  <a:tcPr marL="91440" marR="73152" marT="18288" marB="18288" anchor="ctr">
                    <a:solidFill>
                      <a:srgbClr val="223522"/>
                    </a:solidFill>
                  </a:tcPr>
                </a:tc>
                <a:tc>
                  <a:txBody>
                    <a:bodyPr/>
                    <a:lstStyle/>
                    <a:p>
                      <a:pPr algn="r"/>
                      <a:r>
                        <a:rPr sz="1400" b="0">
                          <a:solidFill>
                            <a:srgbClr val="D8DED8"/>
                          </a:solidFill>
                          <a:latin typeface="Calibri"/>
                        </a:rPr>
                        <a:t>0.036</a:t>
                      </a:r>
                    </a:p>
                  </a:txBody>
                  <a:tcPr marL="91440" marR="73152" marT="18288" marB="18288" anchor="ctr">
                    <a:solidFill>
                      <a:srgbClr val="223522"/>
                    </a:solidFill>
                  </a:tcPr>
                </a:tc>
                <a:tc>
                  <a:txBody>
                    <a:bodyPr/>
                    <a:lstStyle/>
                    <a:p>
                      <a:pPr algn="r"/>
                      <a:r>
                        <a:rPr sz="1400" b="0">
                          <a:solidFill>
                            <a:srgbClr val="D8DED8"/>
                          </a:solidFill>
                          <a:latin typeface="Calibri"/>
                        </a:rPr>
                        <a:t>6.9×</a:t>
                      </a:r>
                    </a:p>
                  </a:txBody>
                  <a:tcPr marL="91440" marR="73152" marT="18288" marB="18288" anchor="ctr">
                    <a:solidFill>
                      <a:srgbClr val="223522"/>
                    </a:solidFill>
                  </a:tcPr>
                </a:tc>
                <a:tc>
                  <a:txBody>
                    <a:bodyPr/>
                    <a:lstStyle/>
                    <a:p>
                      <a:pPr algn="r"/>
                      <a:r>
                        <a:rPr sz="1400" b="0">
                          <a:solidFill>
                            <a:srgbClr val="D8DED8"/>
                          </a:solidFill>
                          <a:latin typeface="Calibri"/>
                        </a:rPr>
                        <a:t>PASS</a:t>
                      </a:r>
                    </a:p>
                  </a:txBody>
                  <a:tcPr marL="91440" marR="73152" marT="18288" marB="18288" anchor="ctr">
                    <a:solidFill>
                      <a:srgbClr val="223522"/>
                    </a:solidFill>
                  </a:tcPr>
                </a:tc>
              </a:tr>
              <a:tr h="457200">
                <a:tc>
                  <a:txBody>
                    <a:bodyPr/>
                    <a:lstStyle/>
                    <a:p>
                      <a:pPr algn="l"/>
                      <a:r>
                        <a:rPr sz="1400" b="1">
                          <a:solidFill>
                            <a:srgbClr val="D8DED8"/>
                          </a:solidFill>
                          <a:latin typeface="Calibri"/>
                        </a:rPr>
                        <a:t>FedPer</a:t>
                      </a:r>
                    </a:p>
                  </a:txBody>
                  <a:tcPr marL="91440" marR="73152" marT="18288" marB="18288" anchor="ctr">
                    <a:solidFill>
                      <a:srgbClr val="223522"/>
                    </a:solidFill>
                  </a:tcPr>
                </a:tc>
                <a:tc>
                  <a:txBody>
                    <a:bodyPr/>
                    <a:lstStyle/>
                    <a:p>
                      <a:pPr algn="r"/>
                      <a:r>
                        <a:rPr sz="1400" b="0">
                          <a:solidFill>
                            <a:srgbClr val="D8DED8"/>
                          </a:solidFill>
                          <a:latin typeface="Calibri"/>
                        </a:rPr>
                        <a:t>0.367</a:t>
                      </a:r>
                    </a:p>
                  </a:txBody>
                  <a:tcPr marL="91440" marR="73152" marT="18288" marB="18288" anchor="ctr">
                    <a:solidFill>
                      <a:srgbClr val="223522"/>
                    </a:solidFill>
                  </a:tcPr>
                </a:tc>
                <a:tc>
                  <a:txBody>
                    <a:bodyPr/>
                    <a:lstStyle/>
                    <a:p>
                      <a:pPr algn="r"/>
                      <a:r>
                        <a:rPr sz="1400" b="0">
                          <a:solidFill>
                            <a:srgbClr val="D8DED8"/>
                          </a:solidFill>
                          <a:latin typeface="Calibri"/>
                        </a:rPr>
                        <a:t>0.084</a:t>
                      </a:r>
                    </a:p>
                  </a:txBody>
                  <a:tcPr marL="91440" marR="73152" marT="18288" marB="18288" anchor="ctr">
                    <a:solidFill>
                      <a:srgbClr val="223522"/>
                    </a:solidFill>
                  </a:tcPr>
                </a:tc>
                <a:tc>
                  <a:txBody>
                    <a:bodyPr/>
                    <a:lstStyle/>
                    <a:p>
                      <a:pPr algn="r"/>
                      <a:r>
                        <a:rPr sz="1400" b="0">
                          <a:solidFill>
                            <a:srgbClr val="D8DED8"/>
                          </a:solidFill>
                          <a:latin typeface="Calibri"/>
                        </a:rPr>
                        <a:t>4.4×</a:t>
                      </a:r>
                    </a:p>
                  </a:txBody>
                  <a:tcPr marL="91440" marR="73152" marT="18288" marB="18288" anchor="ctr">
                    <a:solidFill>
                      <a:srgbClr val="223522"/>
                    </a:solidFill>
                  </a:tcPr>
                </a:tc>
                <a:tc>
                  <a:txBody>
                    <a:bodyPr/>
                    <a:lstStyle/>
                    <a:p>
                      <a:pPr algn="r"/>
                      <a:r>
                        <a:rPr sz="1400" b="0">
                          <a:solidFill>
                            <a:srgbClr val="D8DED8"/>
                          </a:solidFill>
                          <a:latin typeface="Calibri"/>
                        </a:rPr>
                        <a:t>PASS</a:t>
                      </a:r>
                    </a:p>
                  </a:txBody>
                  <a:tcPr marL="91440" marR="73152" marT="18288" marB="18288" anchor="ctr">
                    <a:solidFill>
                      <a:srgbClr val="223522"/>
                    </a:solidFill>
                  </a:tcPr>
                </a:tc>
              </a:tr>
            </a:tbl>
          </a:graphicData>
        </a:graphic>
      </p:graphicFrame>
      <p:sp>
        <p:nvSpPr>
          <p:cNvPr id="6" name="TextBox 5"/>
          <p:cNvSpPr txBox="1"/>
          <p:nvPr/>
        </p:nvSpPr>
        <p:spPr>
          <a:xfrm>
            <a:off x="658368" y="3794760"/>
            <a:ext cx="10874959" cy="274320"/>
          </a:xfrm>
          <a:prstGeom prst="rect">
            <a:avLst/>
          </a:prstGeom>
          <a:noFill/>
        </p:spPr>
        <p:txBody>
          <a:bodyPr wrap="square" lIns="0" rIns="0" tIns="0" bIns="0">
            <a:spAutoFit/>
          </a:bodyPr>
          <a:lstStyle/>
          <a:p>
            <a:pPr algn="l">
              <a:lnSpc>
                <a:spcPct val="100000"/>
              </a:lnSpc>
            </a:pPr>
            <a:r>
              <a:rPr sz="1150" b="1">
                <a:solidFill>
                  <a:srgbClr val="97BC62"/>
                </a:solidFill>
                <a:latin typeface="Calibri"/>
              </a:rPr>
              <a:t>WHAT THE TEST DOES</a:t>
            </a:r>
          </a:p>
        </p:txBody>
      </p:sp>
      <p:sp>
        <p:nvSpPr>
          <p:cNvPr id="7" name="TextBox 6"/>
          <p:cNvSpPr txBox="1"/>
          <p:nvPr/>
        </p:nvSpPr>
        <p:spPr>
          <a:xfrm>
            <a:off x="658368" y="4133087"/>
            <a:ext cx="10874959" cy="731520"/>
          </a:xfrm>
          <a:prstGeom prst="rect">
            <a:avLst/>
          </a:prstGeom>
          <a:noFill/>
        </p:spPr>
        <p:txBody>
          <a:bodyPr wrap="square" lIns="0" rIns="0" tIns="0" bIns="0">
            <a:spAutoFit/>
          </a:bodyPr>
          <a:lstStyle/>
          <a:p>
            <a:pPr algn="l">
              <a:lnSpc>
                <a:spcPct val="122000"/>
              </a:lnSpc>
            </a:pPr>
            <a:r>
              <a:rPr sz="1500" b="0">
                <a:solidFill>
                  <a:srgbClr val="A8B4A8"/>
                </a:solidFill>
                <a:latin typeface="Calibri"/>
              </a:rPr>
              <a:t>Delete the top-k attributed features and measure how far the prediction moves; delete k features at random and measure the same. If the attribution is real, the first number is much larger. Evaluated on Uttar Pradesh, k up to 15, 284 rows.</a:t>
            </a:r>
          </a:p>
        </p:txBody>
      </p:sp>
      <p:sp>
        <p:nvSpPr>
          <p:cNvPr id="8" name="TextBox 7"/>
          <p:cNvSpPr txBox="1"/>
          <p:nvPr/>
        </p:nvSpPr>
        <p:spPr>
          <a:xfrm>
            <a:off x="658368" y="5138928"/>
            <a:ext cx="10874959" cy="274320"/>
          </a:xfrm>
          <a:prstGeom prst="rect">
            <a:avLst/>
          </a:prstGeom>
          <a:noFill/>
        </p:spPr>
        <p:txBody>
          <a:bodyPr wrap="square" lIns="0" rIns="0" tIns="0" bIns="0">
            <a:spAutoFit/>
          </a:bodyPr>
          <a:lstStyle/>
          <a:p>
            <a:pPr algn="l">
              <a:lnSpc>
                <a:spcPct val="100000"/>
              </a:lnSpc>
            </a:pPr>
            <a:r>
              <a:rPr sz="1150" b="1">
                <a:solidFill>
                  <a:srgbClr val="B85042"/>
                </a:solidFill>
                <a:latin typeface="Calibri"/>
              </a:rPr>
              <a:t>THE CAVEAT THAT BELONGS NEXT TO THE TABLE</a:t>
            </a:r>
          </a:p>
        </p:txBody>
      </p:sp>
      <p:sp>
        <p:nvSpPr>
          <p:cNvPr id="9" name="TextBox 8"/>
          <p:cNvSpPr txBox="1"/>
          <p:nvPr/>
        </p:nvSpPr>
        <p:spPr>
          <a:xfrm>
            <a:off x="658368" y="5477256"/>
            <a:ext cx="10874959" cy="1005840"/>
          </a:xfrm>
          <a:prstGeom prst="rect">
            <a:avLst/>
          </a:prstGeom>
          <a:noFill/>
        </p:spPr>
        <p:txBody>
          <a:bodyPr wrap="square" lIns="0" rIns="0" tIns="0" bIns="0">
            <a:spAutoFit/>
          </a:bodyPr>
          <a:lstStyle/>
          <a:p>
            <a:pPr algn="l">
              <a:lnSpc>
                <a:spcPct val="120000"/>
              </a:lnSpc>
            </a:pPr>
            <a:r>
              <a:rPr sz="1400" b="0">
                <a:solidFill>
                  <a:srgbClr val="A8B4A8"/>
                </a:solidFill>
                <a:latin typeface="Calibri"/>
              </a:rPr>
              <a:t>FedProx has the highest ratio (6.9×) but the lowest random-deletion AOPC (0.036). The ratio is flattering because that model is relatively unresponsive to feature deletion overall, not because its ranking is sharper. Ratios are not comparable across arms with different baseline responsiveness, and the deck does not rank the arms by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B1C"/>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223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82880"/>
            <a:ext cx="10058400" cy="237744"/>
          </a:xfrm>
          <a:prstGeom prst="rect">
            <a:avLst/>
          </a:prstGeom>
          <a:noFill/>
        </p:spPr>
        <p:txBody>
          <a:bodyPr wrap="square" lIns="0" rIns="0" tIns="0" bIns="0">
            <a:spAutoFit/>
          </a:bodyPr>
          <a:lstStyle/>
          <a:p>
            <a:pPr algn="l">
              <a:lnSpc>
                <a:spcPct val="100000"/>
              </a:lnSpc>
            </a:pPr>
            <a:r>
              <a:rPr sz="1100" b="1">
                <a:solidFill>
                  <a:srgbClr val="97BC62"/>
                </a:solidFill>
                <a:latin typeface="Calibri"/>
              </a:rPr>
              <a:t>R3 · SOLUTION EFFECTIVENESS</a:t>
            </a:r>
          </a:p>
        </p:txBody>
      </p:sp>
      <p:sp>
        <p:nvSpPr>
          <p:cNvPr id="4" name="TextBox 3"/>
          <p:cNvSpPr txBox="1"/>
          <p:nvPr/>
        </p:nvSpPr>
        <p:spPr>
          <a:xfrm>
            <a:off x="658368" y="420624"/>
            <a:ext cx="10881360" cy="457200"/>
          </a:xfrm>
          <a:prstGeom prst="rect">
            <a:avLst/>
          </a:prstGeom>
          <a:noFill/>
        </p:spPr>
        <p:txBody>
          <a:bodyPr wrap="square" lIns="0" rIns="0" tIns="0" bIns="0">
            <a:spAutoFit/>
          </a:bodyPr>
          <a:lstStyle/>
          <a:p>
            <a:pPr algn="l">
              <a:lnSpc>
                <a:spcPct val="100000"/>
              </a:lnSpc>
            </a:pPr>
            <a:r>
              <a:rPr sz="2500" b="1">
                <a:solidFill>
                  <a:srgbClr val="D8DED8"/>
                </a:solidFill>
                <a:latin typeface="Cambria"/>
              </a:rPr>
              <a:t>Why the federation is posed by state</a:t>
            </a:r>
          </a:p>
        </p:txBody>
      </p:sp>
      <p:graphicFrame>
        <p:nvGraphicFramePr>
          <p:cNvPr id="5" name="Table 4"/>
          <p:cNvGraphicFramePr>
            <a:graphicFrameLocks noGrp="1"/>
          </p:cNvGraphicFramePr>
          <p:nvPr/>
        </p:nvGraphicFramePr>
        <p:xfrm>
          <a:off x="658368" y="1325880"/>
          <a:ext cx="10874957" cy="2816352"/>
        </p:xfrm>
        <a:graphic>
          <a:graphicData uri="http://schemas.openxmlformats.org/drawingml/2006/table">
            <a:tbl>
              <a:tblPr>
                <a:tableStyleId>{5C22544A-7EE6-4342-B048-85BDC9FD1C3A}</a:tableStyleId>
              </a:tblPr>
              <a:tblGrid>
                <a:gridCol w="4203765"/>
                <a:gridCol w="2284655"/>
                <a:gridCol w="2650200"/>
                <a:gridCol w="1736337"/>
              </a:tblGrid>
              <a:tr h="402336">
                <a:tc>
                  <a:txBody>
                    <a:bodyPr/>
                    <a:lstStyle/>
                    <a:p>
                      <a:pPr algn="l"/>
                      <a:r>
                        <a:rPr sz="1350" b="1">
                          <a:solidFill>
                            <a:srgbClr val="D8DED8"/>
                          </a:solidFill>
                          <a:latin typeface="Calibri"/>
                        </a:rPr>
                        <a:t>Variable · month</a:t>
                      </a:r>
                    </a:p>
                  </a:txBody>
                  <a:tcPr marL="91440" marR="73152" marT="18288" marB="18288" anchor="ctr">
                    <a:solidFill>
                      <a:srgbClr val="2C5F2D"/>
                    </a:solidFill>
                  </a:tcPr>
                </a:tc>
                <a:tc>
                  <a:txBody>
                    <a:bodyPr/>
                    <a:lstStyle/>
                    <a:p>
                      <a:pPr algn="r"/>
                      <a:r>
                        <a:rPr sz="1350" b="1">
                          <a:solidFill>
                            <a:srgbClr val="D8DED8"/>
                          </a:solidFill>
                          <a:latin typeface="Calibri"/>
                        </a:rPr>
                        <a:t>Pooled r</a:t>
                      </a:r>
                    </a:p>
                  </a:txBody>
                  <a:tcPr marL="91440" marR="73152" marT="18288" marB="18288" anchor="ctr">
                    <a:solidFill>
                      <a:srgbClr val="2C5F2D"/>
                    </a:solidFill>
                  </a:tcPr>
                </a:tc>
                <a:tc>
                  <a:txBody>
                    <a:bodyPr/>
                    <a:lstStyle/>
                    <a:p>
                      <a:pPr algn="r"/>
                      <a:r>
                        <a:rPr sz="1350" b="1">
                          <a:solidFill>
                            <a:srgbClr val="D8DED8"/>
                          </a:solidFill>
                          <a:latin typeface="Calibri"/>
                        </a:rPr>
                        <a:t>Within-district r</a:t>
                      </a:r>
                    </a:p>
                  </a:txBody>
                  <a:tcPr marL="91440" marR="73152" marT="18288" marB="18288" anchor="ctr">
                    <a:solidFill>
                      <a:srgbClr val="2C5F2D"/>
                    </a:solidFill>
                  </a:tcPr>
                </a:tc>
                <a:tc>
                  <a:txBody>
                    <a:bodyPr/>
                    <a:lstStyle/>
                    <a:p>
                      <a:pPr algn="r"/>
                      <a:r>
                        <a:rPr sz="1350" b="1">
                          <a:solidFill>
                            <a:srgbClr val="D8DED8"/>
                          </a:solidFill>
                          <a:latin typeface="Calibri"/>
                        </a:rPr>
                        <a:t>Sign flip</a:t>
                      </a:r>
                    </a:p>
                  </a:txBody>
                  <a:tcPr marL="91440" marR="73152" marT="18288" marB="18288" anchor="ctr">
                    <a:solidFill>
                      <a:srgbClr val="2C5F2D"/>
                    </a:solidFill>
                  </a:tcPr>
                </a:tc>
              </a:tr>
              <a:tr h="402336">
                <a:tc>
                  <a:txBody>
                    <a:bodyPr/>
                    <a:lstStyle/>
                    <a:p>
                      <a:pPr algn="l"/>
                      <a:r>
                        <a:rPr sz="1350" b="1">
                          <a:solidFill>
                            <a:srgbClr val="D8DED8"/>
                          </a:solidFill>
                          <a:latin typeface="Calibri"/>
                        </a:rPr>
                        <a:t>precipitation · nov</a:t>
                      </a:r>
                    </a:p>
                  </a:txBody>
                  <a:tcPr marL="91440" marR="73152" marT="18288" marB="18288" anchor="ctr">
                    <a:solidFill>
                      <a:srgbClr val="223522"/>
                    </a:solidFill>
                  </a:tcPr>
                </a:tc>
                <a:tc>
                  <a:txBody>
                    <a:bodyPr/>
                    <a:lstStyle/>
                    <a:p>
                      <a:pPr algn="r"/>
                      <a:r>
                        <a:rPr sz="1350" b="0">
                          <a:solidFill>
                            <a:srgbClr val="D8DED8"/>
                          </a:solidFill>
                          <a:latin typeface="Calibri"/>
                        </a:rPr>
                        <a:t>+0.306</a:t>
                      </a:r>
                    </a:p>
                  </a:txBody>
                  <a:tcPr marL="91440" marR="73152" marT="18288" marB="18288" anchor="ctr">
                    <a:solidFill>
                      <a:srgbClr val="223522"/>
                    </a:solidFill>
                  </a:tcPr>
                </a:tc>
                <a:tc>
                  <a:txBody>
                    <a:bodyPr/>
                    <a:lstStyle/>
                    <a:p>
                      <a:pPr algn="r"/>
                      <a:r>
                        <a:rPr sz="1350" b="0">
                          <a:solidFill>
                            <a:srgbClr val="D8DED8"/>
                          </a:solidFill>
                          <a:latin typeface="Calibri"/>
                        </a:rPr>
                        <a:t>-0.020</a:t>
                      </a:r>
                    </a:p>
                  </a:txBody>
                  <a:tcPr marL="91440" marR="73152" marT="18288" marB="18288" anchor="ctr">
                    <a:solidFill>
                      <a:srgbClr val="223522"/>
                    </a:solidFill>
                  </a:tcPr>
                </a:tc>
                <a:tc>
                  <a:txBody>
                    <a:bodyPr/>
                    <a:lstStyle/>
                    <a:p>
                      <a:pPr algn="r"/>
                      <a:r>
                        <a:rPr sz="1350" b="0">
                          <a:solidFill>
                            <a:srgbClr val="D8DED8"/>
                          </a:solidFill>
                          <a:latin typeface="Calibri"/>
                        </a:rPr>
                        <a:t>yes</a:t>
                      </a:r>
                    </a:p>
                  </a:txBody>
                  <a:tcPr marL="91440" marR="73152" marT="18288" marB="18288" anchor="ctr">
                    <a:solidFill>
                      <a:srgbClr val="223522"/>
                    </a:solidFill>
                  </a:tcPr>
                </a:tc>
              </a:tr>
              <a:tr h="402336">
                <a:tc>
                  <a:txBody>
                    <a:bodyPr/>
                    <a:lstStyle/>
                    <a:p>
                      <a:pPr algn="l"/>
                      <a:r>
                        <a:rPr sz="1350" b="1">
                          <a:solidFill>
                            <a:srgbClr val="D8DED8"/>
                          </a:solidFill>
                          <a:latin typeface="Calibri"/>
                        </a:rPr>
                        <a:t>precipitation · oct</a:t>
                      </a:r>
                    </a:p>
                  </a:txBody>
                  <a:tcPr marL="91440" marR="73152" marT="18288" marB="18288" anchor="ctr">
                    <a:solidFill>
                      <a:srgbClr val="223522"/>
                    </a:solidFill>
                  </a:tcPr>
                </a:tc>
                <a:tc>
                  <a:txBody>
                    <a:bodyPr/>
                    <a:lstStyle/>
                    <a:p>
                      <a:pPr algn="r"/>
                      <a:r>
                        <a:rPr sz="1350" b="0">
                          <a:solidFill>
                            <a:srgbClr val="D8DED8"/>
                          </a:solidFill>
                          <a:latin typeface="Calibri"/>
                        </a:rPr>
                        <a:t>+0.278</a:t>
                      </a:r>
                    </a:p>
                  </a:txBody>
                  <a:tcPr marL="91440" marR="73152" marT="18288" marB="18288" anchor="ctr">
                    <a:solidFill>
                      <a:srgbClr val="223522"/>
                    </a:solidFill>
                  </a:tcPr>
                </a:tc>
                <a:tc>
                  <a:txBody>
                    <a:bodyPr/>
                    <a:lstStyle/>
                    <a:p>
                      <a:pPr algn="r"/>
                      <a:r>
                        <a:rPr sz="1350" b="0">
                          <a:solidFill>
                            <a:srgbClr val="D8DED8"/>
                          </a:solidFill>
                          <a:latin typeface="Calibri"/>
                        </a:rPr>
                        <a:t>-0.010</a:t>
                      </a:r>
                    </a:p>
                  </a:txBody>
                  <a:tcPr marL="91440" marR="73152" marT="18288" marB="18288" anchor="ctr">
                    <a:solidFill>
                      <a:srgbClr val="223522"/>
                    </a:solidFill>
                  </a:tcPr>
                </a:tc>
                <a:tc>
                  <a:txBody>
                    <a:bodyPr/>
                    <a:lstStyle/>
                    <a:p>
                      <a:pPr algn="r"/>
                      <a:r>
                        <a:rPr sz="1350" b="0">
                          <a:solidFill>
                            <a:srgbClr val="D8DED8"/>
                          </a:solidFill>
                          <a:latin typeface="Calibri"/>
                        </a:rPr>
                        <a:t>yes</a:t>
                      </a:r>
                    </a:p>
                  </a:txBody>
                  <a:tcPr marL="91440" marR="73152" marT="18288" marB="18288" anchor="ctr">
                    <a:solidFill>
                      <a:srgbClr val="223522"/>
                    </a:solidFill>
                  </a:tcPr>
                </a:tc>
              </a:tr>
              <a:tr h="402336">
                <a:tc>
                  <a:txBody>
                    <a:bodyPr/>
                    <a:lstStyle/>
                    <a:p>
                      <a:pPr algn="l"/>
                      <a:r>
                        <a:rPr sz="1350" b="1">
                          <a:solidFill>
                            <a:srgbClr val="D8DED8"/>
                          </a:solidFill>
                          <a:latin typeface="Calibri"/>
                        </a:rPr>
                        <a:t>windspeed · dec</a:t>
                      </a:r>
                    </a:p>
                  </a:txBody>
                  <a:tcPr marL="91440" marR="73152" marT="18288" marB="18288" anchor="ctr">
                    <a:solidFill>
                      <a:srgbClr val="223522"/>
                    </a:solidFill>
                  </a:tcPr>
                </a:tc>
                <a:tc>
                  <a:txBody>
                    <a:bodyPr/>
                    <a:lstStyle/>
                    <a:p>
                      <a:pPr algn="r"/>
                      <a:r>
                        <a:rPr sz="1350" b="0">
                          <a:solidFill>
                            <a:srgbClr val="D8DED8"/>
                          </a:solidFill>
                          <a:latin typeface="Calibri"/>
                        </a:rPr>
                        <a:t>+0.116</a:t>
                      </a:r>
                    </a:p>
                  </a:txBody>
                  <a:tcPr marL="91440" marR="73152" marT="18288" marB="18288" anchor="ctr">
                    <a:solidFill>
                      <a:srgbClr val="223522"/>
                    </a:solidFill>
                  </a:tcPr>
                </a:tc>
                <a:tc>
                  <a:txBody>
                    <a:bodyPr/>
                    <a:lstStyle/>
                    <a:p>
                      <a:pPr algn="r"/>
                      <a:r>
                        <a:rPr sz="1350" b="0">
                          <a:solidFill>
                            <a:srgbClr val="D8DED8"/>
                          </a:solidFill>
                          <a:latin typeface="Calibri"/>
                        </a:rPr>
                        <a:t>-0.159</a:t>
                      </a:r>
                    </a:p>
                  </a:txBody>
                  <a:tcPr marL="91440" marR="73152" marT="18288" marB="18288" anchor="ctr">
                    <a:solidFill>
                      <a:srgbClr val="223522"/>
                    </a:solidFill>
                  </a:tcPr>
                </a:tc>
                <a:tc>
                  <a:txBody>
                    <a:bodyPr/>
                    <a:lstStyle/>
                    <a:p>
                      <a:pPr algn="r"/>
                      <a:r>
                        <a:rPr sz="1350" b="0">
                          <a:solidFill>
                            <a:srgbClr val="D8DED8"/>
                          </a:solidFill>
                          <a:latin typeface="Calibri"/>
                        </a:rPr>
                        <a:t>yes</a:t>
                      </a:r>
                    </a:p>
                  </a:txBody>
                  <a:tcPr marL="91440" marR="73152" marT="18288" marB="18288" anchor="ctr">
                    <a:solidFill>
                      <a:srgbClr val="223522"/>
                    </a:solidFill>
                  </a:tcPr>
                </a:tc>
              </a:tr>
              <a:tr h="402336">
                <a:tc>
                  <a:txBody>
                    <a:bodyPr/>
                    <a:lstStyle/>
                    <a:p>
                      <a:pPr algn="l"/>
                      <a:r>
                        <a:rPr sz="1350" b="1">
                          <a:solidFill>
                            <a:srgbClr val="D8DED8"/>
                          </a:solidFill>
                          <a:latin typeface="Calibri"/>
                        </a:rPr>
                        <a:t>evapotranspiration · dec</a:t>
                      </a:r>
                    </a:p>
                  </a:txBody>
                  <a:tcPr marL="91440" marR="73152" marT="18288" marB="18288" anchor="ctr">
                    <a:solidFill>
                      <a:srgbClr val="223522"/>
                    </a:solidFill>
                  </a:tcPr>
                </a:tc>
                <a:tc>
                  <a:txBody>
                    <a:bodyPr/>
                    <a:lstStyle/>
                    <a:p>
                      <a:pPr algn="r"/>
                      <a:r>
                        <a:rPr sz="1350" b="0">
                          <a:solidFill>
                            <a:srgbClr val="D8DED8"/>
                          </a:solidFill>
                          <a:latin typeface="Calibri"/>
                        </a:rPr>
                        <a:t>+0.283</a:t>
                      </a:r>
                    </a:p>
                  </a:txBody>
                  <a:tcPr marL="91440" marR="73152" marT="18288" marB="18288" anchor="ctr">
                    <a:solidFill>
                      <a:srgbClr val="223522"/>
                    </a:solidFill>
                  </a:tcPr>
                </a:tc>
                <a:tc>
                  <a:txBody>
                    <a:bodyPr/>
                    <a:lstStyle/>
                    <a:p>
                      <a:pPr algn="r"/>
                      <a:r>
                        <a:rPr sz="1350" b="0">
                          <a:solidFill>
                            <a:srgbClr val="D8DED8"/>
                          </a:solidFill>
                          <a:latin typeface="Calibri"/>
                        </a:rPr>
                        <a:t>+0.017</a:t>
                      </a:r>
                    </a:p>
                  </a:txBody>
                  <a:tcPr marL="91440" marR="73152" marT="18288" marB="18288" anchor="ctr">
                    <a:solidFill>
                      <a:srgbClr val="223522"/>
                    </a:solidFill>
                  </a:tcPr>
                </a:tc>
                <a:tc>
                  <a:txBody>
                    <a:bodyPr/>
                    <a:lstStyle/>
                    <a:p>
                      <a:pPr algn="r"/>
                      <a:r>
                        <a:rPr sz="1350" b="0">
                          <a:solidFill>
                            <a:srgbClr val="D8DED8"/>
                          </a:solidFill>
                          <a:latin typeface="Calibri"/>
                        </a:rPr>
                        <a:t>no</a:t>
                      </a:r>
                    </a:p>
                  </a:txBody>
                  <a:tcPr marL="91440" marR="73152" marT="18288" marB="18288" anchor="ctr">
                    <a:solidFill>
                      <a:srgbClr val="223522"/>
                    </a:solidFill>
                  </a:tcPr>
                </a:tc>
              </a:tr>
              <a:tr h="402336">
                <a:tc>
                  <a:txBody>
                    <a:bodyPr/>
                    <a:lstStyle/>
                    <a:p>
                      <a:pPr algn="l"/>
                      <a:r>
                        <a:rPr sz="1350" b="1">
                          <a:solidFill>
                            <a:srgbClr val="D8DED8"/>
                          </a:solidFill>
                          <a:latin typeface="Calibri"/>
                        </a:rPr>
                        <a:t>evapotranspiration · nov</a:t>
                      </a:r>
                    </a:p>
                  </a:txBody>
                  <a:tcPr marL="91440" marR="73152" marT="18288" marB="18288" anchor="ctr">
                    <a:solidFill>
                      <a:srgbClr val="223522"/>
                    </a:solidFill>
                  </a:tcPr>
                </a:tc>
                <a:tc>
                  <a:txBody>
                    <a:bodyPr/>
                    <a:lstStyle/>
                    <a:p>
                      <a:pPr algn="r"/>
                      <a:r>
                        <a:rPr sz="1350" b="0">
                          <a:solidFill>
                            <a:srgbClr val="D8DED8"/>
                          </a:solidFill>
                          <a:latin typeface="Calibri"/>
                        </a:rPr>
                        <a:t>+0.248</a:t>
                      </a:r>
                    </a:p>
                  </a:txBody>
                  <a:tcPr marL="91440" marR="73152" marT="18288" marB="18288" anchor="ctr">
                    <a:solidFill>
                      <a:srgbClr val="223522"/>
                    </a:solidFill>
                  </a:tcPr>
                </a:tc>
                <a:tc>
                  <a:txBody>
                    <a:bodyPr/>
                    <a:lstStyle/>
                    <a:p>
                      <a:pPr algn="r"/>
                      <a:r>
                        <a:rPr sz="1350" b="0">
                          <a:solidFill>
                            <a:srgbClr val="D8DED8"/>
                          </a:solidFill>
                          <a:latin typeface="Calibri"/>
                        </a:rPr>
                        <a:t>-0.009</a:t>
                      </a:r>
                    </a:p>
                  </a:txBody>
                  <a:tcPr marL="91440" marR="73152" marT="18288" marB="18288" anchor="ctr">
                    <a:solidFill>
                      <a:srgbClr val="223522"/>
                    </a:solidFill>
                  </a:tcPr>
                </a:tc>
                <a:tc>
                  <a:txBody>
                    <a:bodyPr/>
                    <a:lstStyle/>
                    <a:p>
                      <a:pPr algn="r"/>
                      <a:r>
                        <a:rPr sz="1350" b="0">
                          <a:solidFill>
                            <a:srgbClr val="D8DED8"/>
                          </a:solidFill>
                          <a:latin typeface="Calibri"/>
                        </a:rPr>
                        <a:t>yes</a:t>
                      </a:r>
                    </a:p>
                  </a:txBody>
                  <a:tcPr marL="91440" marR="73152" marT="18288" marB="18288" anchor="ctr">
                    <a:solidFill>
                      <a:srgbClr val="223522"/>
                    </a:solidFill>
                  </a:tcPr>
                </a:tc>
              </a:tr>
              <a:tr h="402336">
                <a:tc>
                  <a:txBody>
                    <a:bodyPr/>
                    <a:lstStyle/>
                    <a:p>
                      <a:pPr algn="l"/>
                      <a:r>
                        <a:rPr sz="1350" b="1">
                          <a:solidFill>
                            <a:srgbClr val="D8DED8"/>
                          </a:solidFill>
                          <a:latin typeface="Calibri"/>
                        </a:rPr>
                        <a:t>precipitation · dec</a:t>
                      </a:r>
                    </a:p>
                  </a:txBody>
                  <a:tcPr marL="91440" marR="73152" marT="18288" marB="18288" anchor="ctr">
                    <a:solidFill>
                      <a:srgbClr val="223522"/>
                    </a:solidFill>
                  </a:tcPr>
                </a:tc>
                <a:tc>
                  <a:txBody>
                    <a:bodyPr/>
                    <a:lstStyle/>
                    <a:p>
                      <a:pPr algn="r"/>
                      <a:r>
                        <a:rPr sz="1350" b="0">
                          <a:solidFill>
                            <a:srgbClr val="D8DED8"/>
                          </a:solidFill>
                          <a:latin typeface="Calibri"/>
                        </a:rPr>
                        <a:t>+0.247</a:t>
                      </a:r>
                    </a:p>
                  </a:txBody>
                  <a:tcPr marL="91440" marR="73152" marT="18288" marB="18288" anchor="ctr">
                    <a:solidFill>
                      <a:srgbClr val="223522"/>
                    </a:solidFill>
                  </a:tcPr>
                </a:tc>
                <a:tc>
                  <a:txBody>
                    <a:bodyPr/>
                    <a:lstStyle/>
                    <a:p>
                      <a:pPr algn="r"/>
                      <a:r>
                        <a:rPr sz="1350" b="0">
                          <a:solidFill>
                            <a:srgbClr val="D8DED8"/>
                          </a:solidFill>
                          <a:latin typeface="Calibri"/>
                        </a:rPr>
                        <a:t>-0.002</a:t>
                      </a:r>
                    </a:p>
                  </a:txBody>
                  <a:tcPr marL="91440" marR="73152" marT="18288" marB="18288" anchor="ctr">
                    <a:solidFill>
                      <a:srgbClr val="223522"/>
                    </a:solidFill>
                  </a:tcPr>
                </a:tc>
                <a:tc>
                  <a:txBody>
                    <a:bodyPr/>
                    <a:lstStyle/>
                    <a:p>
                      <a:pPr algn="r"/>
                      <a:r>
                        <a:rPr sz="1350" b="0">
                          <a:solidFill>
                            <a:srgbClr val="D8DED8"/>
                          </a:solidFill>
                          <a:latin typeface="Calibri"/>
                        </a:rPr>
                        <a:t>yes</a:t>
                      </a:r>
                    </a:p>
                  </a:txBody>
                  <a:tcPr marL="91440" marR="73152" marT="18288" marB="18288" anchor="ctr">
                    <a:solidFill>
                      <a:srgbClr val="223522"/>
                    </a:solidFill>
                  </a:tcPr>
                </a:tc>
              </a:tr>
            </a:tbl>
          </a:graphicData>
        </a:graphic>
      </p:graphicFrame>
      <p:sp>
        <p:nvSpPr>
          <p:cNvPr id="6" name="TextBox 5"/>
          <p:cNvSpPr txBox="1"/>
          <p:nvPr/>
        </p:nvSpPr>
        <p:spPr>
          <a:xfrm>
            <a:off x="658368" y="4224528"/>
            <a:ext cx="2926080" cy="457200"/>
          </a:xfrm>
          <a:prstGeom prst="rect">
            <a:avLst/>
          </a:prstGeom>
          <a:noFill/>
        </p:spPr>
        <p:txBody>
          <a:bodyPr wrap="square" lIns="0" rIns="0" tIns="0" bIns="0">
            <a:spAutoFit/>
          </a:bodyPr>
          <a:lstStyle/>
          <a:p>
            <a:pPr algn="l">
              <a:lnSpc>
                <a:spcPct val="100000"/>
              </a:lnSpc>
            </a:pPr>
            <a:r>
              <a:rPr sz="3000" b="1">
                <a:solidFill>
                  <a:srgbClr val="B85042"/>
                </a:solidFill>
                <a:latin typeface="Cambria"/>
              </a:rPr>
              <a:t>32 of 60</a:t>
            </a:r>
          </a:p>
        </p:txBody>
      </p:sp>
      <p:sp>
        <p:nvSpPr>
          <p:cNvPr id="7" name="TextBox 6"/>
          <p:cNvSpPr txBox="1"/>
          <p:nvPr/>
        </p:nvSpPr>
        <p:spPr>
          <a:xfrm>
            <a:off x="658368" y="4736592"/>
            <a:ext cx="3200400" cy="1005840"/>
          </a:xfrm>
          <a:prstGeom prst="rect">
            <a:avLst/>
          </a:prstGeom>
          <a:noFill/>
        </p:spPr>
        <p:txBody>
          <a:bodyPr wrap="square" lIns="0" rIns="0" tIns="0" bIns="0">
            <a:spAutoFit/>
          </a:bodyPr>
          <a:lstStyle/>
          <a:p>
            <a:pPr algn="l">
              <a:lnSpc>
                <a:spcPct val="120000"/>
              </a:lnSpc>
            </a:pPr>
            <a:r>
              <a:rPr sz="1400" b="0">
                <a:solidFill>
                  <a:srgbClr val="A8B4A8"/>
                </a:solidFill>
                <a:latin typeface="Calibri"/>
              </a:rPr>
              <a:t>month-variable pairs invert sign between the pooled and the within-district correlation.</a:t>
            </a:r>
          </a:p>
        </p:txBody>
      </p:sp>
      <p:sp>
        <p:nvSpPr>
          <p:cNvPr id="8" name="TextBox 7"/>
          <p:cNvSpPr txBox="1"/>
          <p:nvPr/>
        </p:nvSpPr>
        <p:spPr>
          <a:xfrm>
            <a:off x="4480560" y="4160520"/>
            <a:ext cx="7132320" cy="2194560"/>
          </a:xfrm>
          <a:prstGeom prst="rect">
            <a:avLst/>
          </a:prstGeom>
          <a:noFill/>
        </p:spPr>
        <p:txBody>
          <a:bodyPr wrap="square" lIns="0" rIns="0" tIns="0" bIns="0">
            <a:spAutoFit/>
          </a:bodyPr>
          <a:lstStyle/>
          <a:p>
            <a:pPr algn="l">
              <a:lnSpc>
                <a:spcPct val="120000"/>
              </a:lnSpc>
            </a:pPr>
            <a:r>
              <a:rPr sz="1400" b="0">
                <a:solidFill>
                  <a:srgbClr val="D8DED8"/>
                </a:solidFill>
                <a:latin typeface="Calibri"/>
              </a:rPr>
              <a:t>Pooled across districts, post-monsoon rain looks like the dominant predictor and monsoon rain looks harmful. Both are artefacts: wet districts are disproportionately rainfed and low-yielding, so 'wet' proxies for 'low-yielding' and reverses the apparent sign. Removing each district's own mean restores the agronomic direction.</a:t>
            </a:r>
          </a:p>
          <a:p>
            <a:pPr algn="l">
              <a:lnSpc>
                <a:spcPct val="120000"/>
              </a:lnSpc>
            </a:pPr>
            <a:r>
              <a:rPr sz="1400" b="0">
                <a:solidFill>
                  <a:srgbClr val="D8DED8"/>
                </a:solidFill>
                <a:latin typeface="Calibri"/>
              </a:rPr>
              <a:t/>
            </a:r>
          </a:p>
          <a:p>
            <a:pPr algn="l">
              <a:lnSpc>
                <a:spcPct val="120000"/>
              </a:lnSpc>
            </a:pPr>
            <a:r>
              <a:rPr sz="1400" b="0">
                <a:solidFill>
                  <a:srgbClr val="D8DED8"/>
                </a:solidFill>
                <a:latin typeface="Calibri"/>
              </a:rPr>
              <a:t>This is the measured form of the project's claim that heterogeneity carries signal and should be preserved rather than averaged away. It is the empirical justification for partitioning by state rather than pooling.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B1C"/>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223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82880"/>
            <a:ext cx="10058400" cy="237744"/>
          </a:xfrm>
          <a:prstGeom prst="rect">
            <a:avLst/>
          </a:prstGeom>
          <a:noFill/>
        </p:spPr>
        <p:txBody>
          <a:bodyPr wrap="square" lIns="0" rIns="0" tIns="0" bIns="0">
            <a:spAutoFit/>
          </a:bodyPr>
          <a:lstStyle/>
          <a:p>
            <a:pPr algn="l">
              <a:lnSpc>
                <a:spcPct val="100000"/>
              </a:lnSpc>
            </a:pPr>
            <a:r>
              <a:rPr sz="1100" b="1">
                <a:solidFill>
                  <a:srgbClr val="97BC62"/>
                </a:solidFill>
                <a:latin typeface="Calibri"/>
              </a:rPr>
              <a:t>R3 · SOLUTION EFFECTIVENESS</a:t>
            </a:r>
          </a:p>
        </p:txBody>
      </p:sp>
      <p:sp>
        <p:nvSpPr>
          <p:cNvPr id="4" name="TextBox 3"/>
          <p:cNvSpPr txBox="1"/>
          <p:nvPr/>
        </p:nvSpPr>
        <p:spPr>
          <a:xfrm>
            <a:off x="658368" y="420624"/>
            <a:ext cx="10881360" cy="457200"/>
          </a:xfrm>
          <a:prstGeom prst="rect">
            <a:avLst/>
          </a:prstGeom>
          <a:noFill/>
        </p:spPr>
        <p:txBody>
          <a:bodyPr wrap="square" lIns="0" rIns="0" tIns="0" bIns="0">
            <a:spAutoFit/>
          </a:bodyPr>
          <a:lstStyle/>
          <a:p>
            <a:pPr algn="l">
              <a:lnSpc>
                <a:spcPct val="100000"/>
              </a:lnSpc>
            </a:pPr>
            <a:r>
              <a:rPr sz="2500" b="1">
                <a:solidFill>
                  <a:srgbClr val="D8DED8"/>
                </a:solidFill>
                <a:latin typeface="Cambria"/>
              </a:rPr>
              <a:t>Against published work</a:t>
            </a:r>
          </a:p>
        </p:txBody>
      </p:sp>
      <p:graphicFrame>
        <p:nvGraphicFramePr>
          <p:cNvPr id="5" name="Table 4"/>
          <p:cNvGraphicFramePr>
            <a:graphicFrameLocks noGrp="1"/>
          </p:cNvGraphicFramePr>
          <p:nvPr/>
        </p:nvGraphicFramePr>
        <p:xfrm>
          <a:off x="658368" y="1261872"/>
          <a:ext cx="10874958" cy="3429000"/>
        </p:xfrm>
        <a:graphic>
          <a:graphicData uri="http://schemas.openxmlformats.org/drawingml/2006/table">
            <a:tbl>
              <a:tblPr>
                <a:tableStyleId>{5C22544A-7EE6-4342-B048-85BDC9FD1C3A}</a:tableStyleId>
              </a:tblPr>
              <a:tblGrid>
                <a:gridCol w="3198517"/>
                <a:gridCol w="5391786"/>
                <a:gridCol w="2284655"/>
              </a:tblGrid>
              <a:tr h="342900">
                <a:tc>
                  <a:txBody>
                    <a:bodyPr/>
                    <a:lstStyle/>
                    <a:p>
                      <a:pPr algn="l"/>
                      <a:r>
                        <a:rPr sz="1250" b="1">
                          <a:solidFill>
                            <a:srgbClr val="D8DED8"/>
                          </a:solidFill>
                          <a:latin typeface="Calibri"/>
                        </a:rPr>
                        <a:t>Work</a:t>
                      </a:r>
                    </a:p>
                  </a:txBody>
                  <a:tcPr marL="91440" marR="73152" marT="18288" marB="18288" anchor="ctr">
                    <a:solidFill>
                      <a:srgbClr val="2C5F2D"/>
                    </a:solidFill>
                  </a:tcPr>
                </a:tc>
                <a:tc>
                  <a:txBody>
                    <a:bodyPr/>
                    <a:lstStyle/>
                    <a:p>
                      <a:pPr algn="l"/>
                      <a:r>
                        <a:rPr sz="1250" b="1">
                          <a:solidFill>
                            <a:srgbClr val="D8DED8"/>
                          </a:solidFill>
                          <a:latin typeface="Calibri"/>
                        </a:rPr>
                        <a:t>Setting</a:t>
                      </a:r>
                    </a:p>
                  </a:txBody>
                  <a:tcPr marL="91440" marR="73152" marT="18288" marB="18288" anchor="ctr">
                    <a:solidFill>
                      <a:srgbClr val="2C5F2D"/>
                    </a:solidFill>
                  </a:tcPr>
                </a:tc>
                <a:tc>
                  <a:txBody>
                    <a:bodyPr/>
                    <a:lstStyle/>
                    <a:p>
                      <a:pPr algn="r"/>
                      <a:r>
                        <a:rPr sz="1250" b="1">
                          <a:solidFill>
                            <a:srgbClr val="D8DED8"/>
                          </a:solidFill>
                          <a:latin typeface="Calibri"/>
                        </a:rPr>
                        <a:t>Reported</a:t>
                      </a:r>
                    </a:p>
                  </a:txBody>
                  <a:tcPr marL="91440" marR="73152" marT="18288" marB="18288" anchor="ctr">
                    <a:solidFill>
                      <a:srgbClr val="2C5F2D"/>
                    </a:solidFill>
                  </a:tcPr>
                </a:tc>
              </a:tr>
              <a:tr h="342900">
                <a:tc>
                  <a:txBody>
                    <a:bodyPr/>
                    <a:lstStyle/>
                    <a:p>
                      <a:pPr algn="l"/>
                      <a:r>
                        <a:rPr sz="1250" b="1">
                          <a:solidFill>
                            <a:srgbClr val="97BC62"/>
                          </a:solidFill>
                          <a:latin typeface="Calibri"/>
                        </a:rPr>
                        <a:t>This project · centralised</a:t>
                      </a:r>
                    </a:p>
                  </a:txBody>
                  <a:tcPr marL="91440" marR="73152" marT="18288" marB="18288" anchor="ctr">
                    <a:solidFill>
                      <a:srgbClr val="223522"/>
                    </a:solidFill>
                  </a:tcPr>
                </a:tc>
                <a:tc>
                  <a:txBody>
                    <a:bodyPr/>
                    <a:lstStyle/>
                    <a:p>
                      <a:pPr algn="l"/>
                      <a:r>
                        <a:rPr sz="1250" b="0">
                          <a:solidFill>
                            <a:srgbClr val="D8DED8"/>
                          </a:solidFill>
                          <a:latin typeface="Calibri"/>
                        </a:rPr>
                        <a:t>501 districts, strict chronological split</a:t>
                      </a:r>
                    </a:p>
                  </a:txBody>
                  <a:tcPr marL="91440" marR="73152" marT="18288" marB="18288" anchor="ctr">
                    <a:solidFill>
                      <a:srgbClr val="223522"/>
                    </a:solidFill>
                  </a:tcPr>
                </a:tc>
                <a:tc>
                  <a:txBody>
                    <a:bodyPr/>
                    <a:lstStyle/>
                    <a:p>
                      <a:pPr algn="r"/>
                      <a:r>
                        <a:rPr sz="1250" b="0">
                          <a:solidFill>
                            <a:srgbClr val="D8DED8"/>
                          </a:solidFill>
                          <a:latin typeface="Calibri"/>
                        </a:rPr>
                        <a:t>R² = 0.448</a:t>
                      </a:r>
                    </a:p>
                  </a:txBody>
                  <a:tcPr marL="91440" marR="73152" marT="18288" marB="18288" anchor="ctr">
                    <a:solidFill>
                      <a:srgbClr val="223522"/>
                    </a:solidFill>
                  </a:tcPr>
                </a:tc>
              </a:tr>
              <a:tr h="342900">
                <a:tc>
                  <a:txBody>
                    <a:bodyPr/>
                    <a:lstStyle/>
                    <a:p>
                      <a:pPr algn="l"/>
                      <a:r>
                        <a:rPr sz="1250" b="1">
                          <a:solidFill>
                            <a:srgbClr val="97BC62"/>
                          </a:solidFill>
                          <a:latin typeface="Calibri"/>
                        </a:rPr>
                        <a:t>This project · FedPer</a:t>
                      </a:r>
                    </a:p>
                  </a:txBody>
                  <a:tcPr marL="91440" marR="73152" marT="18288" marB="18288" anchor="ctr">
                    <a:solidFill>
                      <a:srgbClr val="223522"/>
                    </a:solidFill>
                  </a:tcPr>
                </a:tc>
                <a:tc>
                  <a:txBody>
                    <a:bodyPr/>
                    <a:lstStyle/>
                    <a:p>
                      <a:pPr algn="l"/>
                      <a:r>
                        <a:rPr sz="1250" b="0">
                          <a:solidFill>
                            <a:srgbClr val="D8DED8"/>
                          </a:solidFill>
                          <a:latin typeface="Calibri"/>
                        </a:rPr>
                        <a:t>Same split, per-state clients</a:t>
                      </a:r>
                    </a:p>
                  </a:txBody>
                  <a:tcPr marL="91440" marR="73152" marT="18288" marB="18288" anchor="ctr">
                    <a:solidFill>
                      <a:srgbClr val="223522"/>
                    </a:solidFill>
                  </a:tcPr>
                </a:tc>
                <a:tc>
                  <a:txBody>
                    <a:bodyPr/>
                    <a:lstStyle/>
                    <a:p>
                      <a:pPr algn="r"/>
                      <a:r>
                        <a:rPr sz="1250" b="0">
                          <a:solidFill>
                            <a:srgbClr val="D8DED8"/>
                          </a:solidFill>
                          <a:latin typeface="Calibri"/>
                        </a:rPr>
                        <a:t>R² = 0.364</a:t>
                      </a:r>
                    </a:p>
                  </a:txBody>
                  <a:tcPr marL="91440" marR="73152" marT="18288" marB="18288" anchor="ctr">
                    <a:solidFill>
                      <a:srgbClr val="223522"/>
                    </a:solidFill>
                  </a:tcPr>
                </a:tc>
              </a:tr>
              <a:tr h="342900">
                <a:tc>
                  <a:txBody>
                    <a:bodyPr/>
                    <a:lstStyle/>
                    <a:p>
                      <a:pPr algn="l"/>
                      <a:r>
                        <a:rPr sz="1250" b="1">
                          <a:solidFill>
                            <a:srgbClr val="97BC62"/>
                          </a:solidFill>
                          <a:latin typeface="Calibri"/>
                        </a:rPr>
                        <a:t>Yazdi et al. [8]</a:t>
                      </a:r>
                    </a:p>
                  </a:txBody>
                  <a:tcPr marL="91440" marR="73152" marT="18288" marB="18288" anchor="ctr">
                    <a:solidFill>
                      <a:srgbClr val="223522"/>
                    </a:solidFill>
                  </a:tcPr>
                </a:tc>
                <a:tc>
                  <a:txBody>
                    <a:bodyPr/>
                    <a:lstStyle/>
                    <a:p>
                      <a:pPr algn="l"/>
                      <a:r>
                        <a:rPr sz="1250" b="0">
                          <a:solidFill>
                            <a:srgbClr val="D8DED8"/>
                          </a:solidFill>
                          <a:latin typeface="Calibri"/>
                        </a:rPr>
                        <a:t>Rainfed cereals, strict chronological validation</a:t>
                      </a:r>
                    </a:p>
                  </a:txBody>
                  <a:tcPr marL="91440" marR="73152" marT="18288" marB="18288" anchor="ctr">
                    <a:solidFill>
                      <a:srgbClr val="223522"/>
                    </a:solidFill>
                  </a:tcPr>
                </a:tc>
                <a:tc>
                  <a:txBody>
                    <a:bodyPr/>
                    <a:lstStyle/>
                    <a:p>
                      <a:pPr algn="r"/>
                      <a:r>
                        <a:rPr sz="1250" b="0">
                          <a:solidFill>
                            <a:srgbClr val="D8DED8"/>
                          </a:solidFill>
                          <a:latin typeface="Calibri"/>
                        </a:rPr>
                        <a:t>R² = 0.271</a:t>
                      </a:r>
                    </a:p>
                  </a:txBody>
                  <a:tcPr marL="91440" marR="73152" marT="18288" marB="18288" anchor="ctr">
                    <a:solidFill>
                      <a:srgbClr val="223522"/>
                    </a:solidFill>
                  </a:tcPr>
                </a:tc>
              </a:tr>
              <a:tr h="342900">
                <a:tc>
                  <a:txBody>
                    <a:bodyPr/>
                    <a:lstStyle/>
                    <a:p>
                      <a:pPr algn="l"/>
                      <a:r>
                        <a:rPr sz="1250" b="1">
                          <a:solidFill>
                            <a:srgbClr val="D8DED8"/>
                          </a:solidFill>
                          <a:latin typeface="Calibri"/>
                        </a:rPr>
                        <a:t>De Clercq &amp; Mahdi [6]</a:t>
                      </a:r>
                    </a:p>
                  </a:txBody>
                  <a:tcPr marL="91440" marR="73152" marT="18288" marB="18288" anchor="ctr">
                    <a:solidFill>
                      <a:srgbClr val="223522"/>
                    </a:solidFill>
                  </a:tcPr>
                </a:tc>
                <a:tc>
                  <a:txBody>
                    <a:bodyPr/>
                    <a:lstStyle/>
                    <a:p>
                      <a:pPr algn="l"/>
                      <a:r>
                        <a:rPr sz="1250" b="0">
                          <a:solidFill>
                            <a:srgbClr val="D8DED8"/>
                          </a:solidFill>
                          <a:latin typeface="Calibri"/>
                        </a:rPr>
                        <a:t>247 Indian rice districts, centralised</a:t>
                      </a:r>
                    </a:p>
                  </a:txBody>
                  <a:tcPr marL="91440" marR="73152" marT="18288" marB="18288" anchor="ctr">
                    <a:solidFill>
                      <a:srgbClr val="223522"/>
                    </a:solidFill>
                  </a:tcPr>
                </a:tc>
                <a:tc>
                  <a:txBody>
                    <a:bodyPr/>
                    <a:lstStyle/>
                    <a:p>
                      <a:pPr algn="r"/>
                      <a:r>
                        <a:rPr sz="1250" b="0">
                          <a:solidFill>
                            <a:srgbClr val="D8DED8"/>
                          </a:solidFill>
                          <a:latin typeface="Calibri"/>
                        </a:rPr>
                        <a:t>R² ≤ 0.82</a:t>
                      </a:r>
                    </a:p>
                  </a:txBody>
                  <a:tcPr marL="91440" marR="73152" marT="18288" marB="18288" anchor="ctr">
                    <a:solidFill>
                      <a:srgbClr val="223522"/>
                    </a:solidFill>
                  </a:tcPr>
                </a:tc>
              </a:tr>
              <a:tr h="342900">
                <a:tc>
                  <a:txBody>
                    <a:bodyPr/>
                    <a:lstStyle/>
                    <a:p>
                      <a:pPr algn="l"/>
                      <a:r>
                        <a:rPr sz="1250" b="1">
                          <a:solidFill>
                            <a:srgbClr val="D8DED8"/>
                          </a:solidFill>
                          <a:latin typeface="Calibri"/>
                        </a:rPr>
                        <a:t>Malashin et al. [14]</a:t>
                      </a:r>
                    </a:p>
                  </a:txBody>
                  <a:tcPr marL="91440" marR="73152" marT="18288" marB="18288" anchor="ctr">
                    <a:solidFill>
                      <a:srgbClr val="223522"/>
                    </a:solidFill>
                  </a:tcPr>
                </a:tc>
                <a:tc>
                  <a:txBody>
                    <a:bodyPr/>
                    <a:lstStyle/>
                    <a:p>
                      <a:pPr algn="l"/>
                      <a:r>
                        <a:rPr sz="1250" b="0">
                          <a:solidFill>
                            <a:srgbClr val="D8DED8"/>
                          </a:solidFill>
                          <a:latin typeface="Calibri"/>
                        </a:rPr>
                        <a:t>Indian state data, optimised deep network</a:t>
                      </a:r>
                    </a:p>
                  </a:txBody>
                  <a:tcPr marL="91440" marR="73152" marT="18288" marB="18288" anchor="ctr">
                    <a:solidFill>
                      <a:srgbClr val="223522"/>
                    </a:solidFill>
                  </a:tcPr>
                </a:tc>
                <a:tc>
                  <a:txBody>
                    <a:bodyPr/>
                    <a:lstStyle/>
                    <a:p>
                      <a:pPr algn="r"/>
                      <a:r>
                        <a:rPr sz="1250" b="0">
                          <a:solidFill>
                            <a:srgbClr val="D8DED8"/>
                          </a:solidFill>
                          <a:latin typeface="Calibri"/>
                        </a:rPr>
                        <a:t>R² = 0.92</a:t>
                      </a:r>
                    </a:p>
                  </a:txBody>
                  <a:tcPr marL="91440" marR="73152" marT="18288" marB="18288" anchor="ctr">
                    <a:solidFill>
                      <a:srgbClr val="223522"/>
                    </a:solidFill>
                  </a:tcPr>
                </a:tc>
              </a:tr>
              <a:tr h="342900">
                <a:tc>
                  <a:txBody>
                    <a:bodyPr/>
                    <a:lstStyle/>
                    <a:p>
                      <a:pPr algn="l"/>
                      <a:r>
                        <a:rPr sz="1250" b="1">
                          <a:solidFill>
                            <a:srgbClr val="D8DED8"/>
                          </a:solidFill>
                          <a:latin typeface="Calibri"/>
                        </a:rPr>
                        <a:t>Shams et al. [13]</a:t>
                      </a:r>
                    </a:p>
                  </a:txBody>
                  <a:tcPr marL="91440" marR="73152" marT="18288" marB="18288" anchor="ctr">
                    <a:solidFill>
                      <a:srgbClr val="223522"/>
                    </a:solidFill>
                  </a:tcPr>
                </a:tc>
                <a:tc>
                  <a:txBody>
                    <a:bodyPr/>
                    <a:lstStyle/>
                    <a:p>
                      <a:pPr algn="l"/>
                      <a:r>
                        <a:rPr sz="1250" b="0">
                          <a:solidFill>
                            <a:srgbClr val="D8DED8"/>
                          </a:solidFill>
                          <a:latin typeface="Calibri"/>
                        </a:rPr>
                        <a:t>XAI-CROP, centralised</a:t>
                      </a:r>
                    </a:p>
                  </a:txBody>
                  <a:tcPr marL="91440" marR="73152" marT="18288" marB="18288" anchor="ctr">
                    <a:solidFill>
                      <a:srgbClr val="223522"/>
                    </a:solidFill>
                  </a:tcPr>
                </a:tc>
                <a:tc>
                  <a:txBody>
                    <a:bodyPr/>
                    <a:lstStyle/>
                    <a:p>
                      <a:pPr algn="r"/>
                      <a:r>
                        <a:rPr sz="1250" b="0">
                          <a:solidFill>
                            <a:srgbClr val="D8DED8"/>
                          </a:solidFill>
                          <a:latin typeface="Calibri"/>
                        </a:rPr>
                        <a:t>R² = 0.9415</a:t>
                      </a:r>
                    </a:p>
                  </a:txBody>
                  <a:tcPr marL="91440" marR="73152" marT="18288" marB="18288" anchor="ctr">
                    <a:solidFill>
                      <a:srgbClr val="223522"/>
                    </a:solidFill>
                  </a:tcPr>
                </a:tc>
              </a:tr>
              <a:tr h="342900">
                <a:tc>
                  <a:txBody>
                    <a:bodyPr/>
                    <a:lstStyle/>
                    <a:p>
                      <a:pPr algn="l"/>
                      <a:r>
                        <a:rPr sz="1250" b="1">
                          <a:solidFill>
                            <a:srgbClr val="D8DED8"/>
                          </a:solidFill>
                          <a:latin typeface="Calibri"/>
                        </a:rPr>
                        <a:t>Yenkikar et al. [11]</a:t>
                      </a:r>
                    </a:p>
                  </a:txBody>
                  <a:tcPr marL="91440" marR="73152" marT="18288" marB="18288" anchor="ctr">
                    <a:solidFill>
                      <a:srgbClr val="223522"/>
                    </a:solidFill>
                  </a:tcPr>
                </a:tc>
                <a:tc>
                  <a:txBody>
                    <a:bodyPr/>
                    <a:lstStyle/>
                    <a:p>
                      <a:pPr algn="l"/>
                      <a:r>
                        <a:rPr sz="1250" b="0">
                          <a:solidFill>
                            <a:srgbClr val="D8DED8"/>
                          </a:solidFill>
                          <a:latin typeface="Calibri"/>
                        </a:rPr>
                        <a:t>246k records, 33 states, centralised ensemble</a:t>
                      </a:r>
                    </a:p>
                  </a:txBody>
                  <a:tcPr marL="91440" marR="73152" marT="18288" marB="18288" anchor="ctr">
                    <a:solidFill>
                      <a:srgbClr val="223522"/>
                    </a:solidFill>
                  </a:tcPr>
                </a:tc>
                <a:tc>
                  <a:txBody>
                    <a:bodyPr/>
                    <a:lstStyle/>
                    <a:p>
                      <a:pPr algn="r"/>
                      <a:r>
                        <a:rPr sz="1250" b="0">
                          <a:solidFill>
                            <a:srgbClr val="D8DED8"/>
                          </a:solidFill>
                          <a:latin typeface="Calibri"/>
                        </a:rPr>
                        <a:t>R² = 0.9827</a:t>
                      </a:r>
                    </a:p>
                  </a:txBody>
                  <a:tcPr marL="91440" marR="73152" marT="18288" marB="18288" anchor="ctr">
                    <a:solidFill>
                      <a:srgbClr val="223522"/>
                    </a:solidFill>
                  </a:tcPr>
                </a:tc>
              </a:tr>
              <a:tr h="342900">
                <a:tc>
                  <a:txBody>
                    <a:bodyPr/>
                    <a:lstStyle/>
                    <a:p>
                      <a:pPr algn="l"/>
                      <a:r>
                        <a:rPr sz="1250" b="1">
                          <a:solidFill>
                            <a:srgbClr val="D8DED8"/>
                          </a:solidFill>
                          <a:latin typeface="Calibri"/>
                        </a:rPr>
                        <a:t>Dey et al. [26]</a:t>
                      </a:r>
                    </a:p>
                  </a:txBody>
                  <a:tcPr marL="91440" marR="73152" marT="18288" marB="18288" anchor="ctr">
                    <a:solidFill>
                      <a:srgbClr val="223522"/>
                    </a:solidFill>
                  </a:tcPr>
                </a:tc>
                <a:tc>
                  <a:txBody>
                    <a:bodyPr/>
                    <a:lstStyle/>
                    <a:p>
                      <a:pPr algn="l"/>
                      <a:r>
                        <a:rPr sz="1250" b="0">
                          <a:solidFill>
                            <a:srgbClr val="D8DED8"/>
                          </a:solidFill>
                          <a:latin typeface="Calibri"/>
                        </a:rPr>
                        <a:t>Federated, 4,513 Maharashtra samples</a:t>
                      </a:r>
                    </a:p>
                  </a:txBody>
                  <a:tcPr marL="91440" marR="73152" marT="18288" marB="18288" anchor="ctr">
                    <a:solidFill>
                      <a:srgbClr val="223522"/>
                    </a:solidFill>
                  </a:tcPr>
                </a:tc>
                <a:tc>
                  <a:txBody>
                    <a:bodyPr/>
                    <a:lstStyle/>
                    <a:p>
                      <a:pPr algn="r"/>
                      <a:r>
                        <a:rPr sz="1250" b="0">
                          <a:solidFill>
                            <a:srgbClr val="D8DED8"/>
                          </a:solidFill>
                          <a:latin typeface="Calibri"/>
                        </a:rPr>
                        <a:t>acc &gt; 99% (not R²)</a:t>
                      </a:r>
                    </a:p>
                  </a:txBody>
                  <a:tcPr marL="91440" marR="73152" marT="18288" marB="18288" anchor="ctr">
                    <a:solidFill>
                      <a:srgbClr val="223522"/>
                    </a:solidFill>
                  </a:tcPr>
                </a:tc>
              </a:tr>
              <a:tr h="342900">
                <a:tc>
                  <a:txBody>
                    <a:bodyPr/>
                    <a:lstStyle/>
                    <a:p>
                      <a:pPr algn="l"/>
                      <a:r>
                        <a:rPr sz="1250" b="1">
                          <a:solidFill>
                            <a:srgbClr val="D8DED8"/>
                          </a:solidFill>
                          <a:latin typeface="Calibri"/>
                        </a:rPr>
                        <a:t>Mukherjee &amp; Buyya [27]</a:t>
                      </a:r>
                    </a:p>
                  </a:txBody>
                  <a:tcPr marL="91440" marR="73152" marT="18288" marB="18288" anchor="ctr">
                    <a:solidFill>
                      <a:srgbClr val="223522"/>
                    </a:solidFill>
                  </a:tcPr>
                </a:tc>
                <a:tc>
                  <a:txBody>
                    <a:bodyPr/>
                    <a:lstStyle/>
                    <a:p>
                      <a:pPr algn="l"/>
                      <a:r>
                        <a:rPr sz="1250" b="0">
                          <a:solidFill>
                            <a:srgbClr val="D8DED8"/>
                          </a:solidFill>
                          <a:latin typeface="Calibri"/>
                        </a:rPr>
                        <a:t>Federated, ring/mesh topologies</a:t>
                      </a:r>
                    </a:p>
                  </a:txBody>
                  <a:tcPr marL="91440" marR="73152" marT="18288" marB="18288" anchor="ctr">
                    <a:solidFill>
                      <a:srgbClr val="223522"/>
                    </a:solidFill>
                  </a:tcPr>
                </a:tc>
                <a:tc>
                  <a:txBody>
                    <a:bodyPr/>
                    <a:lstStyle/>
                    <a:p>
                      <a:pPr algn="r"/>
                      <a:r>
                        <a:rPr sz="1250" b="0">
                          <a:solidFill>
                            <a:srgbClr val="D8DED8"/>
                          </a:solidFill>
                          <a:latin typeface="Calibri"/>
                        </a:rPr>
                        <a:t>acc &gt; 93% (not R²)</a:t>
                      </a:r>
                    </a:p>
                  </a:txBody>
                  <a:tcPr marL="91440" marR="73152" marT="18288" marB="18288" anchor="ctr">
                    <a:solidFill>
                      <a:srgbClr val="223522"/>
                    </a:solidFill>
                  </a:tcPr>
                </a:tc>
              </a:tr>
            </a:tbl>
          </a:graphicData>
        </a:graphic>
      </p:graphicFrame>
      <p:sp>
        <p:nvSpPr>
          <p:cNvPr id="6" name="TextBox 5"/>
          <p:cNvSpPr txBox="1"/>
          <p:nvPr/>
        </p:nvSpPr>
        <p:spPr>
          <a:xfrm>
            <a:off x="658368" y="4892040"/>
            <a:ext cx="10874959" cy="731520"/>
          </a:xfrm>
          <a:prstGeom prst="rect">
            <a:avLst/>
          </a:prstGeom>
          <a:noFill/>
        </p:spPr>
        <p:txBody>
          <a:bodyPr wrap="square" lIns="0" rIns="0" tIns="0" bIns="0">
            <a:spAutoFit/>
          </a:bodyPr>
          <a:lstStyle/>
          <a:p>
            <a:pPr algn="l">
              <a:lnSpc>
                <a:spcPct val="112000"/>
              </a:lnSpc>
            </a:pPr>
            <a:r>
              <a:rPr sz="1400" b="0">
                <a:solidFill>
                  <a:srgbClr val="D8DED8"/>
                </a:solidFill>
                <a:latin typeface="Calibri"/>
              </a:rPr>
              <a:t>Read this honestly. Against loosely-validated centralised studies this project is behind on raw R². Against the one study using comparable strict chronological validation on rainfed data it is ahead. The federated accuracy figures are classification-style accuracy on smaller, more homogeneous samples and are not R², so they are not comparable and are not compared here. The claim this project actually makes is different: no reviewed federated work evaluates against a centralised ceiling, a trend baseline and an explanation-fidelity test at once.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B1C"/>
        </a:solidFill>
        <a:effectLst/>
      </p:bgPr>
    </p:bg>
    <p:spTree>
      <p:nvGrpSpPr>
        <p:cNvPr id="1" name=""/>
        <p:cNvGrpSpPr/>
        <p:nvPr/>
      </p:nvGrpSpPr>
      <p:grpSpPr/>
      <p:sp>
        <p:nvSpPr>
          <p:cNvPr id="2" name="Rectangle 1"/>
          <p:cNvSpPr/>
          <p:nvPr/>
        </p:nvSpPr>
        <p:spPr>
          <a:xfrm>
            <a:off x="0" y="0"/>
            <a:ext cx="12191695" cy="1024128"/>
          </a:xfrm>
          <a:prstGeom prst="rect">
            <a:avLst/>
          </a:prstGeom>
          <a:solidFill>
            <a:srgbClr val="2235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82880"/>
            <a:ext cx="10058400" cy="237744"/>
          </a:xfrm>
          <a:prstGeom prst="rect">
            <a:avLst/>
          </a:prstGeom>
          <a:noFill/>
        </p:spPr>
        <p:txBody>
          <a:bodyPr wrap="square" lIns="0" rIns="0" tIns="0" bIns="0">
            <a:spAutoFit/>
          </a:bodyPr>
          <a:lstStyle/>
          <a:p>
            <a:pPr algn="l">
              <a:lnSpc>
                <a:spcPct val="100000"/>
              </a:lnSpc>
            </a:pPr>
            <a:r>
              <a:rPr sz="1100" b="1">
                <a:solidFill>
                  <a:srgbClr val="97BC62"/>
                </a:solidFill>
                <a:latin typeface="Calibri"/>
              </a:rPr>
              <a:t>PROVENANCE</a:t>
            </a:r>
          </a:p>
        </p:txBody>
      </p:sp>
      <p:sp>
        <p:nvSpPr>
          <p:cNvPr id="4" name="TextBox 3"/>
          <p:cNvSpPr txBox="1"/>
          <p:nvPr/>
        </p:nvSpPr>
        <p:spPr>
          <a:xfrm>
            <a:off x="658368" y="420624"/>
            <a:ext cx="10881360" cy="457200"/>
          </a:xfrm>
          <a:prstGeom prst="rect">
            <a:avLst/>
          </a:prstGeom>
          <a:noFill/>
        </p:spPr>
        <p:txBody>
          <a:bodyPr wrap="square" lIns="0" rIns="0" tIns="0" bIns="0">
            <a:spAutoFit/>
          </a:bodyPr>
          <a:lstStyle/>
          <a:p>
            <a:pPr algn="l">
              <a:lnSpc>
                <a:spcPct val="100000"/>
              </a:lnSpc>
            </a:pPr>
            <a:r>
              <a:rPr sz="2500" b="1">
                <a:solidFill>
                  <a:srgbClr val="D8DED8"/>
                </a:solidFill>
                <a:latin typeface="Cambria"/>
              </a:rPr>
              <a:t>What is not here</a:t>
            </a:r>
          </a:p>
        </p:txBody>
      </p:sp>
      <p:graphicFrame>
        <p:nvGraphicFramePr>
          <p:cNvPr id="5" name="Table 4"/>
          <p:cNvGraphicFramePr>
            <a:graphicFrameLocks noGrp="1"/>
          </p:cNvGraphicFramePr>
          <p:nvPr/>
        </p:nvGraphicFramePr>
        <p:xfrm>
          <a:off x="658368" y="1371600"/>
          <a:ext cx="10874958" cy="2194560"/>
        </p:xfrm>
        <a:graphic>
          <a:graphicData uri="http://schemas.openxmlformats.org/drawingml/2006/table">
            <a:tbl>
              <a:tblPr>
                <a:tableStyleId>{5C22544A-7EE6-4342-B048-85BDC9FD1C3A}</a:tableStyleId>
              </a:tblPr>
              <a:tblGrid>
                <a:gridCol w="5940103"/>
                <a:gridCol w="4934855"/>
              </a:tblGrid>
              <a:tr h="438912">
                <a:tc>
                  <a:txBody>
                    <a:bodyPr/>
                    <a:lstStyle/>
                    <a:p>
                      <a:pPr algn="l"/>
                      <a:r>
                        <a:rPr sz="1400" b="1">
                          <a:solidFill>
                            <a:srgbClr val="D8DED8"/>
                          </a:solidFill>
                          <a:latin typeface="Calibri"/>
                        </a:rPr>
                        <a:t>Claim</a:t>
                      </a:r>
                    </a:p>
                  </a:txBody>
                  <a:tcPr marL="91440" marR="73152" marT="18288" marB="18288" anchor="ctr">
                    <a:solidFill>
                      <a:srgbClr val="2C5F2D"/>
                    </a:solidFill>
                  </a:tcPr>
                </a:tc>
                <a:tc>
                  <a:txBody>
                    <a:bodyPr/>
                    <a:lstStyle/>
                    <a:p>
                      <a:pPr algn="l"/>
                      <a:r>
                        <a:rPr sz="1400" b="1">
                          <a:solidFill>
                            <a:srgbClr val="D8DED8"/>
                          </a:solidFill>
                          <a:latin typeface="Calibri"/>
                        </a:rPr>
                        <a:t>Status</a:t>
                      </a:r>
                    </a:p>
                  </a:txBody>
                  <a:tcPr marL="91440" marR="73152" marT="18288" marB="18288" anchor="ctr">
                    <a:solidFill>
                      <a:srgbClr val="2C5F2D"/>
                    </a:solidFill>
                  </a:tcPr>
                </a:tc>
              </a:tr>
              <a:tr h="438912">
                <a:tc>
                  <a:txBody>
                    <a:bodyPr/>
                    <a:lstStyle/>
                    <a:p>
                      <a:pPr algn="l"/>
                      <a:r>
                        <a:rPr sz="1400" b="1">
                          <a:solidFill>
                            <a:srgbClr val="D8DED8"/>
                          </a:solidFill>
                          <a:latin typeface="Calibri"/>
                        </a:rPr>
                        <a:t>Climate-stress R² drop per arm</a:t>
                      </a:r>
                    </a:p>
                  </a:txBody>
                  <a:tcPr marL="91440" marR="73152" marT="18288" marB="18288" anchor="ctr">
                    <a:solidFill>
                      <a:srgbClr val="223522"/>
                    </a:solidFill>
                  </a:tcPr>
                </a:tc>
                <a:tc>
                  <a:txBody>
                    <a:bodyPr/>
                    <a:lstStyle/>
                    <a:p>
                      <a:pPr algn="l"/>
                      <a:r>
                        <a:rPr sz="1400" b="0">
                          <a:solidFill>
                            <a:srgbClr val="B85042"/>
                          </a:solidFill>
                          <a:latin typeface="Calibri"/>
                        </a:rPr>
                        <a:t>ood.json not generated</a:t>
                      </a:r>
                    </a:p>
                  </a:txBody>
                  <a:tcPr marL="91440" marR="73152" marT="18288" marB="18288" anchor="ctr">
                    <a:solidFill>
                      <a:srgbClr val="223522"/>
                    </a:solidFill>
                  </a:tcPr>
                </a:tc>
              </a:tr>
              <a:tr h="438912">
                <a:tc>
                  <a:txBody>
                    <a:bodyPr/>
                    <a:lstStyle/>
                    <a:p>
                      <a:pPr algn="l"/>
                      <a:r>
                        <a:rPr sz="1400" b="1">
                          <a:solidFill>
                            <a:srgbClr val="D8DED8"/>
                          </a:solidFill>
                          <a:latin typeface="Calibri"/>
                        </a:rPr>
                        <a:t>Perturbation response (+2 °C, −20% rain)</a:t>
                      </a:r>
                    </a:p>
                  </a:txBody>
                  <a:tcPr marL="91440" marR="73152" marT="18288" marB="18288" anchor="ctr">
                    <a:solidFill>
                      <a:srgbClr val="223522"/>
                    </a:solidFill>
                  </a:tcPr>
                </a:tc>
                <a:tc>
                  <a:txBody>
                    <a:bodyPr/>
                    <a:lstStyle/>
                    <a:p>
                      <a:pPr algn="l"/>
                      <a:r>
                        <a:rPr sz="1400" b="0">
                          <a:solidFill>
                            <a:srgbClr val="B85042"/>
                          </a:solidFill>
                          <a:latin typeface="Calibri"/>
                        </a:rPr>
                        <a:t>perturbation.json not generated</a:t>
                      </a:r>
                    </a:p>
                  </a:txBody>
                  <a:tcPr marL="91440" marR="73152" marT="18288" marB="18288" anchor="ctr">
                    <a:solidFill>
                      <a:srgbClr val="223522"/>
                    </a:solidFill>
                  </a:tcPr>
                </a:tc>
              </a:tr>
              <a:tr h="438912">
                <a:tc>
                  <a:txBody>
                    <a:bodyPr/>
                    <a:lstStyle/>
                    <a:p>
                      <a:pPr algn="l"/>
                      <a:r>
                        <a:rPr sz="1400" b="1">
                          <a:solidFill>
                            <a:srgbClr val="D8DED8"/>
                          </a:solidFill>
                          <a:latin typeface="Calibri"/>
                        </a:rPr>
                        <a:t>Wilcoxon p-values vs centralised</a:t>
                      </a:r>
                    </a:p>
                  </a:txBody>
                  <a:tcPr marL="91440" marR="73152" marT="18288" marB="18288" anchor="ctr">
                    <a:solidFill>
                      <a:srgbClr val="223522"/>
                    </a:solidFill>
                  </a:tcPr>
                </a:tc>
                <a:tc>
                  <a:txBody>
                    <a:bodyPr/>
                    <a:lstStyle/>
                    <a:p>
                      <a:pPr algn="l"/>
                      <a:r>
                        <a:rPr sz="1400" b="0">
                          <a:solidFill>
                            <a:srgbClr val="B85042"/>
                          </a:solidFill>
                          <a:latin typeface="Calibri"/>
                        </a:rPr>
                        <a:t>significance.json not generated</a:t>
                      </a:r>
                    </a:p>
                  </a:txBody>
                  <a:tcPr marL="91440" marR="73152" marT="18288" marB="18288" anchor="ctr">
                    <a:solidFill>
                      <a:srgbClr val="223522"/>
                    </a:solidFill>
                  </a:tcPr>
                </a:tc>
              </a:tr>
              <a:tr h="438912">
                <a:tc>
                  <a:txBody>
                    <a:bodyPr/>
                    <a:lstStyle/>
                    <a:p>
                      <a:pPr algn="l"/>
                      <a:r>
                        <a:rPr sz="1400" b="1">
                          <a:solidFill>
                            <a:srgbClr val="D8DED8"/>
                          </a:solidFill>
                          <a:latin typeface="Calibri"/>
                        </a:rPr>
                        <a:t>Feature-group ablation</a:t>
                      </a:r>
                    </a:p>
                  </a:txBody>
                  <a:tcPr marL="91440" marR="73152" marT="18288" marB="18288" anchor="ctr">
                    <a:solidFill>
                      <a:srgbClr val="223522"/>
                    </a:solidFill>
                  </a:tcPr>
                </a:tc>
                <a:tc>
                  <a:txBody>
                    <a:bodyPr/>
                    <a:lstStyle/>
                    <a:p>
                      <a:pPr algn="l"/>
                      <a:r>
                        <a:rPr sz="1400" b="0">
                          <a:solidFill>
                            <a:srgbClr val="B85042"/>
                          </a:solidFill>
                          <a:latin typeface="Calibri"/>
                        </a:rPr>
                        <a:t>per-group runs not committed</a:t>
                      </a:r>
                    </a:p>
                  </a:txBody>
                  <a:tcPr marL="91440" marR="73152" marT="18288" marB="18288" anchor="ctr">
                    <a:solidFill>
                      <a:srgbClr val="223522"/>
                    </a:solidFill>
                  </a:tcPr>
                </a:tc>
              </a:tr>
            </a:tbl>
          </a:graphicData>
        </a:graphic>
      </p:graphicFrame>
      <p:sp>
        <p:nvSpPr>
          <p:cNvPr id="6" name="TextBox 5"/>
          <p:cNvSpPr txBox="1"/>
          <p:nvPr/>
        </p:nvSpPr>
        <p:spPr>
          <a:xfrm>
            <a:off x="658368" y="3794760"/>
            <a:ext cx="10874959" cy="1371600"/>
          </a:xfrm>
          <a:prstGeom prst="rect">
            <a:avLst/>
          </a:prstGeom>
          <a:noFill/>
        </p:spPr>
        <p:txBody>
          <a:bodyPr wrap="square" lIns="0" rIns="0" tIns="0" bIns="0">
            <a:spAutoFit/>
          </a:bodyPr>
          <a:lstStyle/>
          <a:p>
            <a:pPr algn="l">
              <a:lnSpc>
                <a:spcPct val="122000"/>
              </a:lnSpc>
            </a:pPr>
            <a:r>
              <a:rPr sz="1500" b="0">
                <a:solidFill>
                  <a:srgbClr val="D8DED8"/>
                </a:solidFill>
                <a:latin typeface="Calibri"/>
              </a:rPr>
              <a:t>Stages F and G do not exist. An earlier project summary described climate-stress, perturbation and significance results as complete. Neither the evaluation code nor the artifacts are present in the repository or in the local working copy. Those figures have no artifact behind them and are quoted nowhere in this deck.</a:t>
            </a:r>
          </a:p>
        </p:txBody>
      </p:sp>
      <p:sp>
        <p:nvSpPr>
          <p:cNvPr id="7" name="TextBox 6"/>
          <p:cNvSpPr txBox="1"/>
          <p:nvPr/>
        </p:nvSpPr>
        <p:spPr>
          <a:xfrm>
            <a:off x="658368" y="5029200"/>
            <a:ext cx="10874959" cy="1188720"/>
          </a:xfrm>
          <a:prstGeom prst="rect">
            <a:avLst/>
          </a:prstGeom>
          <a:noFill/>
        </p:spPr>
        <p:txBody>
          <a:bodyPr wrap="square" lIns="0" rIns="0" tIns="0" bIns="0">
            <a:spAutoFit/>
          </a:bodyPr>
          <a:lstStyle/>
          <a:p>
            <a:pPr algn="l">
              <a:lnSpc>
                <a:spcPct val="122000"/>
              </a:lnSpc>
            </a:pPr>
            <a:r>
              <a:rPr sz="1450" b="0">
                <a:solidFill>
                  <a:srgbClr val="A8B4A8"/>
                </a:solidFill>
                <a:latin typeface="Calibri"/>
              </a:rPr>
              <a:t>The feature-group comparison, that neither climate nor agronomic covariates beat the baseline alone and only their combination does, is the strongest single argument available in R3. The script writes each run to its own file; the runs simply need to be executed and committed before the claim can be quoted.</a:t>
            </a:r>
          </a:p>
        </p:txBody>
      </p:sp>
      <p:sp>
        <p:nvSpPr>
          <p:cNvPr id="8" name="TextBox 7"/>
          <p:cNvSpPr txBox="1"/>
          <p:nvPr/>
        </p:nvSpPr>
        <p:spPr>
          <a:xfrm>
            <a:off x="658368" y="6199632"/>
            <a:ext cx="10874959" cy="457200"/>
          </a:xfrm>
          <a:prstGeom prst="rect">
            <a:avLst/>
          </a:prstGeom>
          <a:noFill/>
        </p:spPr>
        <p:txBody>
          <a:bodyPr wrap="square" lIns="0" rIns="0" tIns="0" bIns="0">
            <a:spAutoFit/>
          </a:bodyPr>
          <a:lstStyle/>
          <a:p>
            <a:pPr algn="l">
              <a:lnSpc>
                <a:spcPct val="100000"/>
              </a:lnSpc>
            </a:pPr>
            <a:r>
              <a:rPr sz="1100" b="0">
                <a:solidFill>
                  <a:srgbClr val="A8B4A8"/>
                </a:solidFill>
                <a:latin typeface="Calibri"/>
              </a:rPr>
              <a:t>Artifacts behind this deck: ablation, agreement, attributions, baselines, complexity, confound, federation_history, fidelity, heterogeneity, meta, mu_sweep.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